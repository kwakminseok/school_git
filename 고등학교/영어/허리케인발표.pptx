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 showOutlineIcons="0">
    <p:restoredLeft sz="15150"/>
    <p:restoredTop sz="94665"/>
  </p:normalViewPr>
  <p:slideViewPr>
    <p:cSldViewPr>
      <p:cViewPr varScale="1">
        <p:scale>
          <a:sx n="109" d="100"/>
          <a:sy n="109" d="100"/>
        </p:scale>
        <p:origin x="-1086" y="-84"/>
      </p:cViewPr>
      <p:guideLst>
        <p:guide orient="horz" pos="2155"/>
        <p:guide orient="horz" pos="2448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192" cy="73736192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56E085-5BE3-4893-88E3-BFEA93A53451}" type="datetime1">
              <a:rPr lang="ko-KR" altLang="en-US"/>
              <a:pPr lvl="0">
                <a:defRPr lang="ko-KR" altLang="en-US"/>
              </a:pPr>
              <a:t>2019-06-12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BF9FCC7-E358-4400-9212-87A1AC072DCA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2B2BC9D-A816-4D0A-858B-1D023B3A8ACA}" type="datetime1">
              <a:rPr lang="ko-KR" altLang="en-US"/>
              <a:pPr lvl="0">
                <a:defRPr lang="ko-KR" altLang="en-US"/>
              </a:pPr>
              <a:t>2019-06-12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09F4262C-968C-4EE9-8164-CE16364706B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09F4262C-968C-4EE9-8164-CE16364706B3}" type="slidenum">
              <a:rPr lang="en-US" altLang="en-US"/>
              <a:pPr lvl="0">
                <a:defRPr lang="ko-KR" altLang="en-US"/>
              </a:pPr>
              <a:t>6</a:t>
            </a:fld>
            <a:endParaRPr lang="en-US" altLang="en-US"/>
          </a:p>
        </p:txBody>
      </p:sp>
    </p:spTree>
  </p:cSld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14348" y="2143116"/>
            <a:ext cx="7643866" cy="150019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85786" y="3786190"/>
            <a:ext cx="7500990" cy="857256"/>
          </a:xfrm>
        </p:spPr>
        <p:txBody>
          <a:bodyPr anchor="t"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285728"/>
            <a:ext cx="8554805" cy="939784"/>
          </a:xfrm>
        </p:spPr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9"/>
            <a:ext cx="456478" cy="6857999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071810"/>
            <a:ext cx="7715304" cy="1504952"/>
          </a:xfrm>
        </p:spPr>
        <p:txBody>
          <a:bodyPr anchor="ctr"/>
          <a:lstStyle>
            <a:lvl1pPr algn="l">
              <a:defRPr sz="4000" b="0" cap="all">
                <a:effectLst>
                  <a:outerShdw blurRad="44450" dist="25400" dir="2700000" algn="tl" rotWithShape="0">
                    <a:schemeClr val="bg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00034" y="4500570"/>
            <a:ext cx="7715304" cy="1643064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400">
                <a:solidFill>
                  <a:schemeClr val="tx2"/>
                </a:solidFill>
              </a:defRPr>
            </a:lvl4pPr>
            <a:lvl5pPr marL="1828800" indent="0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500034" y="4429132"/>
            <a:ext cx="7715304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날짜 개체 틀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285728"/>
            <a:ext cx="9144032" cy="114301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 bwMode="invGray">
          <a:xfrm>
            <a:off x="785782" y="1643050"/>
            <a:ext cx="3786218" cy="4429156"/>
          </a:xfrm>
          <a:prstGeom prst="roundRect">
            <a:avLst>
              <a:gd name="adj" fmla="val 5345"/>
            </a:avLst>
          </a:prstGeom>
          <a:solidFill>
            <a:schemeClr val="tx2">
              <a:tint val="50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 bwMode="invGray">
          <a:xfrm>
            <a:off x="4714876" y="1643050"/>
            <a:ext cx="3785616" cy="4429156"/>
          </a:xfrm>
          <a:prstGeom prst="roundRect">
            <a:avLst>
              <a:gd name="adj" fmla="val 6980"/>
            </a:avLst>
          </a:prstGeom>
          <a:solidFill>
            <a:schemeClr val="tx2">
              <a:tint val="75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내용 개체 틀 9"/>
          <p:cNvSpPr>
            <a:spLocks noGrp="1"/>
          </p:cNvSpPr>
          <p:nvPr>
            <p:ph sz="half" idx="2"/>
          </p:nvPr>
        </p:nvSpPr>
        <p:spPr bwMode="invGray">
          <a:xfrm>
            <a:off x="500038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1">
                  <a:shade val="75000"/>
                  <a:alpha val="50000"/>
                </a:schemeClr>
              </a:gs>
              <a:gs pos="100000">
                <a:schemeClr val="accent1">
                  <a:shade val="75000"/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ltGray">
          <a:xfrm>
            <a:off x="500038" y="5429264"/>
            <a:ext cx="4005072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half" idx="4"/>
          </p:nvPr>
        </p:nvSpPr>
        <p:spPr bwMode="invGray">
          <a:xfrm>
            <a:off x="4716932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2">
                  <a:shade val="75000"/>
                  <a:alpha val="50000"/>
                </a:schemeClr>
              </a:gs>
              <a:gs pos="100000">
                <a:schemeClr val="accent2"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 bwMode="ltGray">
          <a:xfrm>
            <a:off x="4714876" y="5429264"/>
            <a:ext cx="4000528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859915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186766" cy="1143000"/>
          </a:xfrm>
        </p:spPr>
        <p:txBody>
          <a:bodyPr/>
          <a:lstStyle>
            <a:lvl1pPr algn="l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invGray">
          <a:xfrm>
            <a:off x="285720" y="263808"/>
            <a:ext cx="8858280" cy="664862"/>
          </a:xfrm>
          <a:prstGeom prst="rect">
            <a:avLst/>
          </a:prstGeom>
          <a:solidFill>
            <a:schemeClr val="tx1">
              <a:tint val="95000"/>
              <a:alpha val="69804"/>
            </a:scheme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 bwMode="invGray">
          <a:xfrm>
            <a:off x="500034" y="285728"/>
            <a:ext cx="8143932" cy="642942"/>
          </a:xfrm>
          <a:noFill/>
        </p:spPr>
        <p:txBody>
          <a:bodyPr anchor="b">
            <a:noAutofit/>
          </a:bodyPr>
          <a:lstStyle>
            <a:lvl1pPr algn="l">
              <a:defRPr sz="2800" b="1">
                <a:ln w="9525" cmpd="sng">
                  <a:noFill/>
                </a:ln>
                <a:solidFill>
                  <a:schemeClr val="bg1"/>
                </a:solidFill>
                <a:effectLst>
                  <a:outerShdw blurRad="44450" dist="25400" dir="2700000" algn="tl" rotWithShape="0">
                    <a:schemeClr val="tx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1006230"/>
            <a:ext cx="2214578" cy="53517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내용 개체 틀 14"/>
          <p:cNvSpPr>
            <a:spLocks noGrp="1"/>
          </p:cNvSpPr>
          <p:nvPr>
            <p:ph sz="quarter" idx="1"/>
          </p:nvPr>
        </p:nvSpPr>
        <p:spPr>
          <a:xfrm>
            <a:off x="2786064" y="1000108"/>
            <a:ext cx="5857875" cy="535783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571876"/>
            <a:ext cx="9144000" cy="3286126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571876"/>
            <a:ext cx="3286148" cy="113824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4714884"/>
            <a:ext cx="3286148" cy="11430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572272"/>
            <a:ext cx="2895600" cy="2977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idx="1"/>
          </p:nvPr>
        </p:nvSpPr>
        <p:spPr>
          <a:xfrm>
            <a:off x="4000496" y="1071546"/>
            <a:ext cx="4214842" cy="4714908"/>
          </a:xfrm>
          <a:solidFill>
            <a:schemeClr val="tx2"/>
          </a:solidFill>
          <a:ln w="152400" cap="rnd">
            <a:solidFill>
              <a:srgbClr val="FFFFFF"/>
            </a:solidFill>
            <a:round/>
          </a:ln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scene3d>
            <a:camera prst="orthographicFront"/>
            <a:lightRig rig="twoPt" dir="t">
              <a:rot lat="0" lon="0" rev="10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txBody>
          <a:bodyPr/>
          <a:lstStyle>
            <a:lvl1pPr marL="0" indent="0">
              <a:buNone/>
              <a:defRPr sz="3200">
                <a:solidFill>
                  <a:schemeClr val="tx2">
                    <a:tint val="10000"/>
                  </a:schemeClr>
                </a:solidFill>
                <a:effectLst>
                  <a:outerShdw blurRad="50800" dist="50800" dir="5400000" algn="tl" rotWithShape="0">
                    <a:srgbClr val="000000">
                      <a:alpha val="58000"/>
                    </a:srgbClr>
                  </a:outerShdw>
                </a:effectLst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b"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00175"/>
            <a:ext cx="8229600" cy="4625989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455646" y="1428736"/>
            <a:ext cx="8215370" cy="1588"/>
          </a:xfrm>
          <a:prstGeom prst="line">
            <a:avLst/>
          </a:prstGeom>
          <a:noFill/>
          <a:ln w="28575" cap="sq" cmpd="sng" algn="ctr">
            <a:solidFill>
              <a:srgbClr val="E49458"/>
            </a:solidFill>
            <a:prstDash val="solid"/>
          </a:ln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rgbClr val="E49458">
                <a:tint val="100000"/>
                <a:shade val="100000"/>
                <a:hueMod val="100000"/>
                <a:satMod val="100000"/>
              </a:srgb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643834" y="-15949"/>
            <a:ext cx="1500166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43834" y="285728"/>
            <a:ext cx="1214446" cy="6286546"/>
          </a:xfrm>
          <a:noFill/>
        </p:spPr>
        <p:txBody>
          <a:bodyPr vert="eaVert" anchor="b"/>
          <a:lstStyle>
            <a:lvl1pPr algn="ctr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571481"/>
            <a:ext cx="7115196" cy="5715044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2380"/>
            <a:ext cx="9144000" cy="283348"/>
          </a:xfrm>
          <a:prstGeom prst="rect">
            <a:avLst/>
          </a:prstGeom>
          <a:solidFill>
            <a:schemeClr val="accent4"/>
          </a:solidFill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12353" y="274638"/>
            <a:ext cx="8545927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731B547-3DC4-4CDB-83A6-E3D04D6D46AA}" type="datetimeFigureOut">
              <a:rPr lang="ko-KR" altLang="en-US" smtClean="0"/>
              <a:pPr/>
              <a:t>2019-06-09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72272"/>
            <a:ext cx="2895600" cy="285752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C9111364-BBE6-405E-85EB-70430AF585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1" hangingPunct="1">
        <a:spcBef>
          <a:spcPct val="0"/>
        </a:spcBef>
        <a:buNone/>
        <a:defRPr kumimoji="0" sz="4400" b="0" kern="1200" spc="100" dirty="0">
          <a:ln w="18000">
            <a:noFill/>
            <a:prstDash val="solid"/>
          </a:ln>
          <a:solidFill>
            <a:schemeClr val="tx1"/>
          </a:solidFill>
          <a:effectLst>
            <a:outerShdw blurRad="44450" dist="25400" dir="2700000" algn="tl" rotWithShape="0">
              <a:schemeClr val="bg1">
                <a:alpha val="51000"/>
              </a:scheme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 kumimoji="0">
          <a:solidFill>
            <a:schemeClr val="tx2"/>
          </a:solidFill>
        </a:defRPr>
      </a:lvl2pPr>
      <a:lvl3pPr eaLnBrk="1" latinLnBrk="1" hangingPunct="1">
        <a:defRPr kumimoji="0">
          <a:solidFill>
            <a:schemeClr val="tx2"/>
          </a:solidFill>
        </a:defRPr>
      </a:lvl3pPr>
      <a:lvl4pPr eaLnBrk="1" latinLnBrk="1" hangingPunct="1">
        <a:defRPr kumimoji="0">
          <a:solidFill>
            <a:schemeClr val="tx2"/>
          </a:solidFill>
        </a:defRPr>
      </a:lvl4pPr>
      <a:lvl5pPr eaLnBrk="1" latinLnBrk="1" hangingPunct="1">
        <a:defRPr kumimoji="0">
          <a:solidFill>
            <a:schemeClr val="tx2"/>
          </a:solidFill>
        </a:defRPr>
      </a:lvl5pPr>
      <a:lvl6pPr eaLnBrk="1" latinLnBrk="1" hangingPunct="1">
        <a:defRPr kumimoji="0">
          <a:solidFill>
            <a:schemeClr val="tx2"/>
          </a:solidFill>
        </a:defRPr>
      </a:lvl6pPr>
      <a:lvl7pPr eaLnBrk="1" latinLnBrk="1" hangingPunct="1">
        <a:defRPr kumimoji="0">
          <a:solidFill>
            <a:schemeClr val="tx2"/>
          </a:solidFill>
        </a:defRPr>
      </a:lvl7pPr>
      <a:lvl8pPr eaLnBrk="1" latinLnBrk="1" hangingPunct="1">
        <a:defRPr kumimoji="0">
          <a:solidFill>
            <a:schemeClr val="tx2"/>
          </a:solidFill>
        </a:defRPr>
      </a:lvl8pPr>
      <a:lvl9pPr eaLnBrk="1" latinLnBrk="1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1" hangingPunct="1">
        <a:spcBef>
          <a:spcPct val="20000"/>
        </a:spcBef>
        <a:buFont typeface="Arial"/>
        <a:buChar char="•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4.xml"  /><Relationship Id="rId3" Type="http://schemas.openxmlformats.org/officeDocument/2006/relationships/slide" Target="slide5.xml"  /><Relationship Id="rId4" Type="http://schemas.openxmlformats.org/officeDocument/2006/relationships/slide" Target="slide5.xml"  /><Relationship Id="rId5" Type="http://schemas.openxmlformats.org/officeDocument/2006/relationships/slide" Target="slide6.xml"  /><Relationship Id="rId6" Type="http://schemas.openxmlformats.org/officeDocument/2006/relationships/slide" Target="slide7.xml"  /><Relationship Id="rId7" Type="http://schemas.openxmlformats.org/officeDocument/2006/relationships/slide" Target="slide7.xml"  /><Relationship Id="rId8" Type="http://schemas.openxmlformats.org/officeDocument/2006/relationships/slide" Target="slide8.xml"  /><Relationship Id="rId9" Type="http://schemas.openxmlformats.org/officeDocument/2006/relationships/slide" Target="slide9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slide" Target="slide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4.xml"  /><Relationship Id="rId3" Type="http://schemas.openxmlformats.org/officeDocument/2006/relationships/slide" Target="slide5.xml"  /><Relationship Id="rId4" Type="http://schemas.openxmlformats.org/officeDocument/2006/relationships/slide" Target="slide5.xml"  /><Relationship Id="rId5" Type="http://schemas.openxmlformats.org/officeDocument/2006/relationships/slide" Target="slide6.xml"  /><Relationship Id="rId6" Type="http://schemas.openxmlformats.org/officeDocument/2006/relationships/slide" Target="slide7.xml"  /><Relationship Id="rId7" Type="http://schemas.openxmlformats.org/officeDocument/2006/relationships/slide" Target="slide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>
          <a:xfrm>
            <a:off x="5076056" y="5517232"/>
            <a:ext cx="3888432" cy="824955"/>
          </a:xfrm>
        </p:spPr>
        <p:txBody>
          <a:bodyPr/>
          <a:lstStyle/>
          <a:p>
            <a:pPr>
              <a:buNone/>
              <a:defRPr lang="ko-KR" altLang="en-US"/>
            </a:pPr>
            <a:r>
              <a:rPr lang="en-US" altLang="ko-KR" sz="2000"/>
              <a:t>1-3 </a:t>
            </a:r>
            <a:r>
              <a:rPr lang="ko-KR" altLang="en-US" sz="2000"/>
              <a:t>곽민석 류성현 배성현 전병준 최진웅</a:t>
            </a:r>
            <a:endParaRPr lang="ko-KR" altLang="en-US" sz="2000"/>
          </a:p>
        </p:txBody>
      </p:sp>
      <p:sp>
        <p:nvSpPr>
          <p:cNvPr id="3" name="제목 1"/>
          <p:cNvSpPr>
            <a:spLocks noGrp="1"/>
          </p:cNvSpPr>
          <p:nvPr>
            <p:ph type="title" idx="0"/>
          </p:nvPr>
        </p:nvSpPr>
        <p:spPr>
          <a:xfrm>
            <a:off x="294597" y="1841143"/>
            <a:ext cx="8554805" cy="939784"/>
          </a:xfrm>
        </p:spPr>
        <p:txBody>
          <a:bodyPr/>
          <a:lstStyle/>
          <a:p>
            <a:pPr>
              <a:defRPr lang="ko-KR" altLang="en-US"/>
            </a:pPr>
            <a:r>
              <a:rPr lang="en-US" altLang="ko-KR"/>
              <a:t>How Do Hurricanes Form?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en-US" altLang="ko-KR"/>
              <a:t>Key words/Interpretation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>
          <a:xfrm>
            <a:off x="179512" y="404664"/>
            <a:ext cx="8784976" cy="5976664"/>
          </a:xfrm>
        </p:spPr>
        <p:txBody>
          <a:bodyPr/>
          <a:lstStyle/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Hurricanes from only over ocean water that has a temperature of 26 or more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>
                <a:solidFill>
                  <a:srgbClr val="ff0000"/>
                </a:solidFill>
                <a:hlinkClick r:id="rId2" action="ppaction://hlinksldjump"/>
              </a:rPr>
              <a:t>degrees</a:t>
            </a:r>
            <a:r>
              <a:rPr lang="en-US" altLang="ko-KR" sz="2000">
                <a:solidFill>
                  <a:srgbClr val="ff0000"/>
                </a:solidFill>
              </a:rPr>
              <a:t> </a:t>
            </a:r>
            <a:r>
              <a:rPr lang="en-US" altLang="ko-KR" sz="2000"/>
              <a:t>Celsius. This is why they are common in tropics where water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temperatures are high all year round. When warm air rises, creating low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pressure over the water surface, cooler air from near by enters to fill the area.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As this process continues, the resulting clouds begin to expand, giving rise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to rains and thunderstorms. The thunderstorms then begin to move in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circles around a central point, due to the</a:t>
            </a:r>
            <a:r>
              <a:rPr lang="en-US" altLang="ko-KR" sz="2000">
                <a:hlinkClick r:id="rId3" action="ppaction://hlinksldjump"/>
              </a:rPr>
              <a:t> </a:t>
            </a:r>
            <a:r>
              <a:rPr lang="en-US" altLang="ko-KR" sz="2000">
                <a:solidFill>
                  <a:srgbClr val="ff0000"/>
                </a:solidFill>
                <a:hlinkClick r:id="rId4" action="ppaction://hlinksldjump"/>
              </a:rPr>
              <a:t>rotation</a:t>
            </a:r>
            <a:r>
              <a:rPr lang="en-US" altLang="ko-KR" sz="2000">
                <a:solidFill>
                  <a:srgbClr val="ff0000"/>
                </a:solidFill>
              </a:rPr>
              <a:t> </a:t>
            </a:r>
            <a:r>
              <a:rPr lang="en-US" altLang="ko-KR" sz="2000"/>
              <a:t>of Earth.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This point is called a </a:t>
            </a:r>
            <a:r>
              <a:rPr lang="en-US" altLang="ko-KR" sz="2000">
                <a:solidFill>
                  <a:srgbClr val="ff0000"/>
                </a:solidFill>
                <a:hlinkClick r:id="rId5" action="ppaction://hlinksldjump"/>
              </a:rPr>
              <a:t>tropical depression</a:t>
            </a:r>
            <a:r>
              <a:rPr lang="en-US" altLang="ko-KR" sz="2000"/>
              <a:t>. As the tropical depression moves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over warmer waters, the clouds </a:t>
            </a:r>
            <a:r>
              <a:rPr lang="en-US" altLang="ko-KR" sz="2000">
                <a:solidFill>
                  <a:srgbClr val="ff0000"/>
                </a:solidFill>
                <a:hlinkClick r:id="rId6" action="ppaction://hlinksldjump"/>
              </a:rPr>
              <a:t>expand</a:t>
            </a:r>
            <a:r>
              <a:rPr lang="en-US" altLang="ko-KR" sz="2000">
                <a:hlinkClick r:id="rId7" action="ppaction://hlinksldjump"/>
              </a:rPr>
              <a:t> </a:t>
            </a:r>
            <a:r>
              <a:rPr lang="en-US" altLang="ko-KR" sz="2000"/>
              <a:t>and the wind begin to build up speed,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, becoming a "tropical strom." As the storm grows, the wind increases,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achieving speeds of as much as 118km per hour. At this point the storm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officially becoes a hurricane It is now a huge storm that can be seen from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space. Interestingly enough, the strom has a calm center, which is called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the "eye."</a:t>
            </a:r>
            <a:endParaRPr lang="en-US" altLang="ko-KR" sz="2000"/>
          </a:p>
        </p:txBody>
      </p:sp>
      <p:sp>
        <p:nvSpPr>
          <p:cNvPr id="3" name=""/>
          <p:cNvSpPr/>
          <p:nvPr/>
        </p:nvSpPr>
        <p:spPr>
          <a:xfrm>
            <a:off x="889248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>
                <a:hlinkClick r:id="rId8" action="ppaction://hlinksldjump"/>
              </a:rPr>
              <a:t>8. Topic/Main Sentences</a:t>
            </a:r>
            <a:endParaRPr lang="ko-KR" altLang="en-US"/>
          </a:p>
        </p:txBody>
      </p:sp>
      <p:sp>
        <p:nvSpPr>
          <p:cNvPr id="4" name="">
            <a:hlinkClick r:id="rId9" action="ppaction://hlinksldjump"/>
          </p:cNvPr>
          <p:cNvSpPr/>
          <p:nvPr/>
        </p:nvSpPr>
        <p:spPr>
          <a:xfrm>
            <a:off x="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lang="ko-KR" altLang="en-US"/>
            </a:pPr>
            <a:r>
              <a:rPr lang="en-US" altLang="ko-KR"/>
              <a:t>degree</a:t>
            </a:r>
            <a:endParaRPr lang="en-US" altLang="ko-KR"/>
          </a:p>
          <a:p>
            <a:pPr>
              <a:buNone/>
              <a:defRPr lang="ko-KR" altLang="en-US"/>
            </a:pPr>
            <a:r>
              <a:rPr lang="en-US" altLang="ko-KR"/>
              <a:t>- </a:t>
            </a:r>
            <a:r>
              <a:rPr lang="ko-KR" altLang="en-US"/>
              <a:t>도 (각도)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학위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온도</a:t>
            </a:r>
            <a:endParaRPr lang="ko-KR" altLang="en-US"/>
          </a:p>
        </p:txBody>
      </p:sp>
      <p:sp>
        <p:nvSpPr>
          <p:cNvPr id="5" name="">
            <a:hlinkClick r:id="rId2" action="ppaction://hlinksldjump"/>
          </p:cNvPr>
          <p:cNvSpPr/>
          <p:nvPr/>
        </p:nvSpPr>
        <p:spPr>
          <a:xfrm>
            <a:off x="889248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lang="ko-KR" altLang="en-US"/>
            </a:pPr>
            <a:r>
              <a:rPr lang="en-US" altLang="ko-KR"/>
              <a:t>rotate(V)</a:t>
            </a:r>
            <a:endParaRPr lang="en-US" altLang="ko-KR"/>
          </a:p>
          <a:p>
            <a:pPr>
              <a:buNone/>
              <a:defRPr lang="ko-KR" altLang="en-US"/>
            </a:pPr>
            <a:r>
              <a:rPr lang="en-US" altLang="ko-KR"/>
              <a:t>- </a:t>
            </a:r>
            <a:r>
              <a:rPr lang="ko-KR" altLang="en-US"/>
              <a:t>회전하다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교대하다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en-US" altLang="ko-KR"/>
              <a:t>rotation(N)</a:t>
            </a:r>
            <a:endParaRPr lang="en-US" altLang="ko-KR"/>
          </a:p>
          <a:p>
            <a:pPr>
              <a:buNone/>
              <a:defRPr lang="ko-KR" altLang="en-US"/>
            </a:pPr>
            <a:r>
              <a:rPr lang="en-US" altLang="ko-KR"/>
              <a:t>-</a:t>
            </a:r>
            <a:r>
              <a:rPr lang="ko-KR" altLang="en-US"/>
              <a:t> 회전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자전</a:t>
            </a:r>
            <a:endParaRPr lang="ko-KR" altLang="en-US"/>
          </a:p>
        </p:txBody>
      </p:sp>
      <p:sp>
        <p:nvSpPr>
          <p:cNvPr id="4" name="">
            <a:hlinkClick r:id="rId2" action="ppaction://hlinksldjump"/>
          </p:cNvPr>
          <p:cNvSpPr/>
          <p:nvPr/>
        </p:nvSpPr>
        <p:spPr>
          <a:xfrm>
            <a:off x="889248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lang="ko-KR" altLang="en-US"/>
            </a:pPr>
            <a:r>
              <a:rPr lang="en-US" altLang="ko-KR"/>
              <a:t>Tropical Depression</a:t>
            </a:r>
            <a:endParaRPr lang="en-US" altLang="ko-KR"/>
          </a:p>
          <a:p>
            <a:pPr>
              <a:buNone/>
              <a:defRPr lang="ko-KR" altLang="en-US"/>
            </a:pPr>
            <a:r>
              <a:rPr lang="ko-KR" altLang="en-US"/>
              <a:t>-열대성 저기압</a:t>
            </a:r>
            <a:endParaRPr lang="ko-KR" altLang="en-US"/>
          </a:p>
          <a:p>
            <a:pPr>
              <a:buNone/>
              <a:defRPr lang="ko-KR" altLang="en-US"/>
            </a:pPr>
            <a:endParaRPr lang="ko-KR" altLang="en-US"/>
          </a:p>
          <a:p>
            <a:pPr>
              <a:buNone/>
              <a:defRPr lang="ko-KR" altLang="en-US"/>
            </a:pPr>
            <a:r>
              <a:rPr lang="en-US" altLang="ko-KR"/>
              <a:t>Tropical(Adj)</a:t>
            </a:r>
            <a:endParaRPr lang="en-US" altLang="ko-KR"/>
          </a:p>
          <a:p>
            <a:pPr>
              <a:buNone/>
              <a:defRPr lang="ko-KR" altLang="en-US"/>
            </a:pPr>
            <a:r>
              <a:rPr lang="en-US" altLang="ko-KR"/>
              <a:t>- </a:t>
            </a:r>
            <a:r>
              <a:rPr lang="ko-KR" altLang="en-US"/>
              <a:t>열대의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en-US" altLang="ko-KR"/>
              <a:t>Depression</a:t>
            </a:r>
            <a:endParaRPr lang="en-US" altLang="ko-KR"/>
          </a:p>
          <a:p>
            <a:pPr>
              <a:buNone/>
              <a:defRPr lang="ko-KR" altLang="en-US"/>
            </a:pPr>
            <a:r>
              <a:rPr lang="en-US" altLang="ko-KR"/>
              <a:t>- </a:t>
            </a:r>
            <a:r>
              <a:rPr lang="ko-KR" altLang="en-US"/>
              <a:t>우울함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저기압</a:t>
            </a:r>
            <a:endParaRPr lang="ko-KR" altLang="en-US"/>
          </a:p>
          <a:p>
            <a:pPr>
              <a:buNone/>
              <a:defRPr lang="ko-KR" altLang="en-US"/>
            </a:pPr>
            <a:endParaRPr lang="ko-KR" altLang="en-US"/>
          </a:p>
        </p:txBody>
      </p:sp>
      <p:sp>
        <p:nvSpPr>
          <p:cNvPr id="4" name="">
            <a:hlinkClick r:id="rId3" action="ppaction://hlinksldjump"/>
          </p:cNvPr>
          <p:cNvSpPr/>
          <p:nvPr/>
        </p:nvSpPr>
        <p:spPr>
          <a:xfrm>
            <a:off x="889248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lang="ko-KR" altLang="en-US"/>
            </a:pPr>
            <a:r>
              <a:rPr lang="en-US" altLang="ko-KR"/>
              <a:t>enpand(v)</a:t>
            </a:r>
            <a:endParaRPr lang="en-US" altLang="ko-KR"/>
          </a:p>
          <a:p>
            <a:pPr>
              <a:buNone/>
              <a:defRPr lang="ko-KR" altLang="en-US"/>
            </a:pPr>
            <a:r>
              <a:rPr lang="en-US" altLang="ko-KR"/>
              <a:t>- </a:t>
            </a:r>
            <a:r>
              <a:rPr lang="ko-KR" altLang="en-US"/>
              <a:t>확장하다</a:t>
            </a:r>
            <a:endParaRPr lang="ko-KR" altLang="en-US"/>
          </a:p>
          <a:p>
            <a:pPr>
              <a:buNone/>
              <a:defRPr lang="ko-KR" altLang="en-US"/>
            </a:pPr>
            <a:r>
              <a:rPr lang="ko-KR" altLang="en-US"/>
              <a:t>- 팽창하다</a:t>
            </a:r>
            <a:endParaRPr lang="ko-KR" altLang="en-US"/>
          </a:p>
        </p:txBody>
      </p:sp>
      <p:sp>
        <p:nvSpPr>
          <p:cNvPr id="4" name="">
            <a:hlinkClick r:id="rId2" action="ppaction://hlinksldjump"/>
          </p:cNvPr>
          <p:cNvSpPr/>
          <p:nvPr/>
        </p:nvSpPr>
        <p:spPr>
          <a:xfrm>
            <a:off x="889248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en-US" altLang="ko-KR"/>
              <a:t>Topic/Main Sentences</a:t>
            </a:r>
            <a:endParaRPr lang="en-US" altLang="ko-KR"/>
          </a:p>
        </p:txBody>
      </p:sp>
      <p:sp>
        <p:nvSpPr>
          <p:cNvPr id="5" name="">
            <a:hlinkClick r:id="rId2" action="ppaction://hlinksldjump"/>
          </p:cNvPr>
          <p:cNvSpPr/>
          <p:nvPr/>
        </p:nvSpPr>
        <p:spPr>
          <a:xfrm>
            <a:off x="889248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defTabSz="484375" ea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b="0">
                <a:solidFill>
                  <a:schemeClr val="tx1"/>
                </a:solidFill>
                <a:latin typeface="맑은 고딕"/>
                <a:ea typeface="맑은 고딕"/>
              </a:rPr>
              <a:t>1. The conditions and processes on which     hurricanes are formed.</a:t>
            </a:r>
            <a:endParaRPr lang="en-US" altLang="ko-KR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484375" ea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en-US" altLang="ko-KR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484375" ea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b="0">
                <a:solidFill>
                  <a:schemeClr val="tx1"/>
                </a:solidFill>
                <a:latin typeface="맑은 고딕"/>
                <a:ea typeface="맑은 고딕"/>
              </a:rPr>
              <a:t>2. The name of winds according to their size.</a:t>
            </a:r>
            <a:endParaRPr lang="en-US" altLang="ko-KR" b="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indent="0" algn="l" defTabSz="484375" ea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en-US" altLang="ko-KR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6" name="">
            <a:hlinkClick r:id="rId2" action="ppaction://hlinksldjump"/>
          </p:cNvPr>
          <p:cNvSpPr/>
          <p:nvPr/>
        </p:nvSpPr>
        <p:spPr>
          <a:xfrm>
            <a:off x="8892480" y="6597352"/>
            <a:ext cx="251520" cy="260648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en-US" altLang="ko-KR"/>
              <a:t>Q 1.2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 lang="ko-KR" altLang="en-US"/>
            </a:pPr>
            <a:r>
              <a:rPr lang="en-US" altLang="ko-KR"/>
              <a:t>Why are hurricanes common in the tropics?</a:t>
            </a:r>
            <a:endParaRPr lang="en-US" altLang="ko-KR"/>
          </a:p>
          <a:p>
            <a:pPr lvl="0">
              <a:defRPr lang="ko-KR" altLang="en-US"/>
            </a:pPr>
            <a:endParaRPr lang="en-US" altLang="ko-KR"/>
          </a:p>
          <a:p>
            <a:pPr>
              <a:buNone/>
              <a:defRPr lang="ko-KR" altLang="en-US"/>
            </a:pPr>
            <a:r>
              <a:rPr lang="ko-KR" altLang="en-US"/>
              <a:t>&gt;</a:t>
            </a:r>
            <a:r>
              <a:rPr lang="en-US" altLang="ko-KR"/>
              <a:t>It is because water temperatures there are high all year round</a:t>
            </a:r>
            <a:endParaRPr lang="en-US" altLang="ko-KR"/>
          </a:p>
          <a:p>
            <a:pPr>
              <a:buNone/>
              <a:defRPr lang="ko-KR" altLang="en-US"/>
            </a:pPr>
            <a:endParaRPr lang="en-US" altLang="ko-KR"/>
          </a:p>
          <a:p>
            <a:pPr lvl="0">
              <a:defRPr lang="ko-KR" altLang="en-US"/>
            </a:pPr>
            <a:r>
              <a:rPr lang="en-US" altLang="ko-KR"/>
              <a:t>How fast should a storm be for it to be officially called a hurricane?</a:t>
            </a:r>
            <a:endParaRPr lang="en-US" altLang="ko-KR"/>
          </a:p>
          <a:p>
            <a:pPr lvl="0">
              <a:defRPr lang="ko-KR" altLang="en-US"/>
            </a:pPr>
            <a:endParaRPr lang="en-US" altLang="ko-KR"/>
          </a:p>
          <a:p>
            <a:pPr>
              <a:buNone/>
              <a:defRPr lang="ko-KR" altLang="en-US"/>
            </a:pPr>
            <a:r>
              <a:rPr lang="ko-KR" altLang="en-US"/>
              <a:t>&gt;</a:t>
            </a:r>
            <a:r>
              <a:rPr lang="en-US" altLang="ko-KR"/>
              <a:t>A storm is officially called a hurricane its speed reaches about 118 km per hour.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>
          <a:xfrm>
            <a:off x="107504" y="404664"/>
            <a:ext cx="8928992" cy="5721499"/>
          </a:xfrm>
        </p:spPr>
        <p:txBody>
          <a:bodyPr/>
          <a:lstStyle/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 u="sng"/>
              <a:t>Hurricanes from only over ocean water that has a temperature of 26 or more </a:t>
            </a:r>
            <a:endParaRPr lang="en-US" altLang="ko-KR" sz="2000" u="sng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 u="sng">
                <a:solidFill>
                  <a:srgbClr val="ff0000"/>
                </a:solidFill>
                <a:hlinkClick r:id="rId2" action="ppaction://hlinksldjump"/>
              </a:rPr>
              <a:t>degrees</a:t>
            </a:r>
            <a:r>
              <a:rPr lang="en-US" altLang="ko-KR" sz="2000" u="sng">
                <a:solidFill>
                  <a:srgbClr val="ff0000"/>
                </a:solidFill>
              </a:rPr>
              <a:t> </a:t>
            </a:r>
            <a:r>
              <a:rPr lang="en-US" altLang="ko-KR" sz="2000" u="sng"/>
              <a:t>Celsius.</a:t>
            </a:r>
            <a:r>
              <a:rPr lang="en-US" altLang="ko-KR" sz="2000"/>
              <a:t> This is why they are common in tropics where water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temperatures are high all year round. When warm air rises, creating low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pressure over the water surface, cooler air from near by enters to fill the area.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As this process continues, the resulting clouds begin to expand, giving rise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to rains and thunderstorms. The thunderstorms then begin to move in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circles around a central point, due to the</a:t>
            </a:r>
            <a:r>
              <a:rPr lang="en-US" altLang="ko-KR" sz="2000">
                <a:hlinkClick r:id="rId3" action="ppaction://hlinksldjump"/>
              </a:rPr>
              <a:t> </a:t>
            </a:r>
            <a:r>
              <a:rPr lang="en-US" altLang="ko-KR" sz="2000">
                <a:solidFill>
                  <a:srgbClr val="ff0000"/>
                </a:solidFill>
                <a:hlinkClick r:id="rId4" action="ppaction://hlinksldjump"/>
              </a:rPr>
              <a:t>rotation</a:t>
            </a:r>
            <a:r>
              <a:rPr lang="en-US" altLang="ko-KR" sz="2000">
                <a:solidFill>
                  <a:srgbClr val="ff0000"/>
                </a:solidFill>
              </a:rPr>
              <a:t> </a:t>
            </a:r>
            <a:r>
              <a:rPr lang="en-US" altLang="ko-KR" sz="2000"/>
              <a:t>of Earth.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This point is called a </a:t>
            </a:r>
            <a:r>
              <a:rPr lang="en-US" altLang="ko-KR" sz="2000">
                <a:solidFill>
                  <a:srgbClr val="ff0000"/>
                </a:solidFill>
                <a:hlinkClick r:id="rId5" action="ppaction://hlinksldjump"/>
              </a:rPr>
              <a:t>tropical depression</a:t>
            </a:r>
            <a:r>
              <a:rPr lang="en-US" altLang="ko-KR" sz="2000"/>
              <a:t>. As the tropical depression moves 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over warmer waters, the clouds </a:t>
            </a:r>
            <a:r>
              <a:rPr lang="en-US" altLang="ko-KR" sz="2000">
                <a:solidFill>
                  <a:srgbClr val="ff0000"/>
                </a:solidFill>
                <a:hlinkClick r:id="rId6" action="ppaction://hlinksldjump"/>
              </a:rPr>
              <a:t>expand</a:t>
            </a:r>
            <a:r>
              <a:rPr lang="en-US" altLang="ko-KR" sz="2000">
                <a:hlinkClick r:id="rId7" action="ppaction://hlinksldjump"/>
              </a:rPr>
              <a:t> </a:t>
            </a:r>
            <a:r>
              <a:rPr lang="en-US" altLang="ko-KR" sz="2000"/>
              <a:t>and the wind begin to build up speed,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, becoming a "tropical strom." </a:t>
            </a:r>
            <a:r>
              <a:rPr lang="en-US" altLang="ko-KR" sz="2000" u="sng"/>
              <a:t>As the storm grows, the wind increases,</a:t>
            </a:r>
            <a:endParaRPr lang="en-US" altLang="ko-KR" sz="2000" u="sng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 u="sng"/>
              <a:t>achieving speeds of as much as 118km per hour.</a:t>
            </a:r>
            <a:r>
              <a:rPr lang="en-US" altLang="ko-KR" sz="2000"/>
              <a:t> At this point the storm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officially becoes a hurricane It is now a huge storm that can be seen from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space. Interestingly enough, the strom has a calm center, which is called</a:t>
            </a:r>
            <a:endParaRPr lang="en-US" altLang="ko-KR" sz="2000"/>
          </a:p>
          <a:p>
            <a:pPr>
              <a:buClr>
                <a:srgbClr val="005466"/>
              </a:buClr>
              <a:buNone/>
              <a:defRPr lang="ko-KR" altLang="en-US"/>
            </a:pPr>
            <a:r>
              <a:rPr lang="en-US" altLang="ko-KR" sz="2000"/>
              <a:t>the "eye."</a:t>
            </a:r>
            <a:endParaRPr lang="en-US" altLang="ko-KR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7564" y="1730370"/>
            <a:ext cx="7848872" cy="4074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en-US" altLang="ko-KR"/>
              <a:t>Grammer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32048" y="-27384"/>
            <a:ext cx="4427984" cy="387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 lang="ko-KR" altLang="en-US"/>
            </a:pPr>
            <a:r>
              <a:rPr lang="en-US" altLang="ko-KR" b="1"/>
              <a:t>How Do </a:t>
            </a:r>
            <a:r>
              <a:rPr lang="en-US" altLang="ko-KR" sz="2000" b="1"/>
              <a:t>Hurricanes</a:t>
            </a:r>
            <a:r>
              <a:rPr lang="en-US" altLang="ko-KR" b="1"/>
              <a:t> Form?</a:t>
            </a:r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251520" y="980728"/>
            <a:ext cx="8784976" cy="13128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atinLnBrk="0">
              <a:defRPr lang="ko-KR" altLang="en-US"/>
            </a:pPr>
            <a:r>
              <a:rPr lang="en-US" altLang="ko-KR" sz="3200">
                <a:latin typeface="Cambria Math"/>
                <a:ea typeface="Cambria Math"/>
              </a:rPr>
              <a:t>Hurricanes form only over </a:t>
            </a:r>
            <a:r>
              <a:rPr lang="en-US" altLang="ko-KR" sz="3200" u="sng">
                <a:latin typeface="Cambria Math"/>
                <a:ea typeface="Cambria Math"/>
              </a:rPr>
              <a:t>ocean water</a:t>
            </a:r>
            <a:r>
              <a:rPr lang="en-US" altLang="ko-KR" sz="3200">
                <a:latin typeface="Cambria Math"/>
                <a:ea typeface="Cambria Math"/>
              </a:rPr>
              <a:t>  (</a:t>
            </a:r>
            <a:r>
              <a:rPr lang="en-US" altLang="ko-KR" sz="3200" u="sng">
                <a:solidFill>
                  <a:srgbClr val="ff0000"/>
                </a:solidFill>
                <a:latin typeface="Cambria Math"/>
                <a:ea typeface="Cambria Math"/>
              </a:rPr>
              <a:t>that</a:t>
            </a:r>
            <a:r>
              <a:rPr lang="en-US" altLang="ko-KR" sz="3200" u="sng">
                <a:latin typeface="Cambria Math"/>
                <a:ea typeface="Cambria Math"/>
              </a:rPr>
              <a:t> </a:t>
            </a:r>
            <a:endParaRPr lang="en-US" altLang="ko-KR" sz="3200" u="sng">
              <a:latin typeface="Cambria Math"/>
              <a:ea typeface="Cambria Math"/>
            </a:endParaRPr>
          </a:p>
          <a:p>
            <a:pPr latinLnBrk="0">
              <a:lnSpc>
                <a:spcPts val="2000"/>
              </a:lnSpc>
              <a:defRPr lang="ko-KR" altLang="en-US"/>
            </a:pPr>
            <a:r>
              <a:rPr lang="en-US" altLang="ko-KR" sz="3200">
                <a:latin typeface="Cambria Math"/>
                <a:ea typeface="Cambria Math"/>
              </a:rPr>
              <a:t>                                                                           </a:t>
            </a:r>
            <a:endParaRPr lang="en-US" altLang="ko-KR" sz="3200">
              <a:latin typeface="Cambria Math"/>
              <a:ea typeface="Cambria Math"/>
            </a:endParaRPr>
          </a:p>
          <a:p>
            <a:pPr latinLnBrk="0">
              <a:defRPr lang="ko-KR" altLang="en-US"/>
            </a:pPr>
            <a:r>
              <a:rPr lang="en-US" altLang="ko-KR" sz="3200">
                <a:latin typeface="Cambria Math"/>
                <a:ea typeface="Cambria Math"/>
              </a:rPr>
              <a:t>has a temperature of 26 or more degrees Celsius).</a:t>
            </a:r>
            <a:endParaRPr lang="en-US" altLang="ko-KR" sz="3200">
              <a:latin typeface="Cambria Math"/>
              <a:ea typeface="Cambria Math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51520" y="3284984"/>
            <a:ext cx="8712968" cy="216141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atinLnBrk="0">
              <a:defRPr lang="ko-KR" altLang="en-US"/>
            </a:pPr>
            <a:r>
              <a:rPr lang="en-US" altLang="ko-KR" sz="3200">
                <a:latin typeface="Cambria Math"/>
                <a:ea typeface="Cambria Math"/>
              </a:rPr>
              <a:t>This  is  </a:t>
            </a:r>
            <a:r>
              <a:rPr lang="en-US" altLang="ko-KR" sz="3200" u="sng">
                <a:solidFill>
                  <a:srgbClr val="ff0000"/>
                </a:solidFill>
                <a:latin typeface="Cambria Math"/>
                <a:ea typeface="Cambria Math"/>
              </a:rPr>
              <a:t>why</a:t>
            </a:r>
            <a:r>
              <a:rPr lang="en-US" altLang="ko-KR" sz="3200">
                <a:solidFill>
                  <a:srgbClr val="ff0000"/>
                </a:solidFill>
                <a:latin typeface="Cambria Math"/>
                <a:ea typeface="Cambria Math"/>
              </a:rPr>
              <a:t>  </a:t>
            </a:r>
            <a:r>
              <a:rPr lang="en-US" altLang="ko-KR" sz="3200">
                <a:latin typeface="Cambria Math"/>
                <a:ea typeface="Cambria Math"/>
              </a:rPr>
              <a:t>they are common in </a:t>
            </a:r>
            <a:r>
              <a:rPr lang="en-US" altLang="ko-KR" sz="3200" u="sng">
                <a:latin typeface="Cambria Math"/>
                <a:ea typeface="Cambria Math"/>
              </a:rPr>
              <a:t>the tropics </a:t>
            </a:r>
            <a:endParaRPr lang="en-US" altLang="ko-KR" sz="3200" u="sng">
              <a:latin typeface="Cambria Math"/>
              <a:ea typeface="Cambria Math"/>
            </a:endParaRPr>
          </a:p>
          <a:p>
            <a:pPr latinLnBrk="0">
              <a:defRPr lang="ko-KR" altLang="en-US"/>
            </a:pPr>
            <a:endParaRPr lang="en-US" altLang="ko-KR" sz="2000" u="sng">
              <a:solidFill>
                <a:srgbClr val="ff0000"/>
              </a:solidFill>
              <a:latin typeface="Cambria Math"/>
              <a:ea typeface="Cambria Math"/>
            </a:endParaRPr>
          </a:p>
          <a:p>
            <a:pPr latinLnBrk="0">
              <a:defRPr lang="ko-KR" altLang="en-US"/>
            </a:pPr>
            <a:r>
              <a:rPr lang="en-US" altLang="ko-KR" sz="3200" u="sng">
                <a:solidFill>
                  <a:srgbClr val="ff0000"/>
                </a:solidFill>
                <a:latin typeface="Cambria Math"/>
                <a:ea typeface="Cambria Math"/>
              </a:rPr>
              <a:t>where</a:t>
            </a:r>
            <a:r>
              <a:rPr lang="en-US" altLang="ko-KR" sz="3200">
                <a:solidFill>
                  <a:srgbClr val="ff0000"/>
                </a:solidFill>
                <a:latin typeface="Cambria Math"/>
                <a:ea typeface="Cambria Math"/>
              </a:rPr>
              <a:t>  </a:t>
            </a:r>
            <a:r>
              <a:rPr lang="en-US" altLang="ko-KR" sz="3200">
                <a:latin typeface="Cambria Math"/>
                <a:ea typeface="Cambria Math"/>
              </a:rPr>
              <a:t>water  temperatures are high all year </a:t>
            </a:r>
            <a:endParaRPr lang="en-US" altLang="ko-KR" sz="3200">
              <a:latin typeface="Cambria Math"/>
              <a:ea typeface="Cambria Math"/>
            </a:endParaRPr>
          </a:p>
          <a:p>
            <a:pPr latinLnBrk="0">
              <a:defRPr lang="ko-KR" altLang="en-US"/>
            </a:pPr>
            <a:endParaRPr lang="en-US" altLang="ko-KR" sz="2000">
              <a:latin typeface="Cambria Math"/>
              <a:ea typeface="Cambria Math"/>
            </a:endParaRPr>
          </a:p>
          <a:p>
            <a:pPr latinLnBrk="0">
              <a:defRPr lang="ko-KR" altLang="en-US"/>
            </a:pPr>
            <a:r>
              <a:rPr lang="en-US" altLang="ko-KR" sz="3200">
                <a:latin typeface="Cambria Math"/>
                <a:ea typeface="Cambria Math"/>
              </a:rPr>
              <a:t>round. </a:t>
            </a:r>
            <a:endParaRPr lang="en-US" altLang="ko-KR" sz="3200">
              <a:latin typeface="Cambria Math"/>
              <a:ea typeface="Cambria Math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187624" y="3759423"/>
            <a:ext cx="2160240" cy="448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en-US" altLang="ko-KR" sz="2400" b="0" kern="0" spc="-300">
                <a:solidFill>
                  <a:srgbClr val="0070c0"/>
                </a:solidFill>
                <a:latin typeface="HY엽서M"/>
                <a:ea typeface="HY엽서M"/>
              </a:rPr>
              <a:t> </a:t>
            </a:r>
            <a:r>
              <a:rPr lang="ko-KR" altLang="en-US" sz="2400" b="0" kern="0" spc="-300">
                <a:solidFill>
                  <a:srgbClr val="0070c0"/>
                </a:solidFill>
                <a:latin typeface="HY엽서M"/>
                <a:ea typeface="HY엽서M"/>
              </a:rPr>
              <a:t>의문사</a:t>
            </a:r>
            <a:r>
              <a:rPr lang="en-US" altLang="ko-KR" sz="2400" b="0" kern="0" spc="-300">
                <a:solidFill>
                  <a:srgbClr val="0070c0"/>
                </a:solidFill>
                <a:latin typeface="HY엽서M"/>
                <a:ea typeface="HY엽서M"/>
              </a:rPr>
              <a:t>(</a:t>
            </a:r>
            <a:r>
              <a:rPr lang="ko-KR" altLang="en-US" sz="2400" b="0" kern="0" spc="-300">
                <a:solidFill>
                  <a:srgbClr val="0070c0"/>
                </a:solidFill>
                <a:latin typeface="HY엽서M"/>
                <a:ea typeface="HY엽서M"/>
              </a:rPr>
              <a:t>명사절</a:t>
            </a:r>
            <a:r>
              <a:rPr lang="en-US" altLang="ko-KR" sz="2400" b="0" kern="0" spc="-300">
                <a:solidFill>
                  <a:srgbClr val="0070c0"/>
                </a:solidFill>
                <a:latin typeface="HY엽서M"/>
                <a:ea typeface="HY엽서M"/>
              </a:rPr>
              <a:t>)</a:t>
            </a:r>
            <a:endParaRPr lang="en-US" altLang="ko-KR" sz="2400" b="0" kern="0" spc="-300">
              <a:solidFill>
                <a:srgbClr val="0070c0"/>
              </a:solidFill>
              <a:latin typeface="HY엽서M"/>
              <a:ea typeface="HY엽서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4509120"/>
            <a:ext cx="1368152" cy="45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lang="ko-KR" altLang="en-US"/>
            </a:pPr>
            <a:r>
              <a:rPr lang="ko-KR" altLang="en-US" sz="2400" b="0" spc="-300">
                <a:solidFill>
                  <a:srgbClr val="0070c0"/>
                </a:solidFill>
                <a:latin typeface="HY엽서M"/>
                <a:ea typeface="HY엽서M"/>
              </a:rPr>
              <a:t>관계부사</a:t>
            </a:r>
            <a:endParaRPr lang="ko-KR" altLang="en-US" sz="2400" b="0" spc="-300">
              <a:solidFill>
                <a:srgbClr val="0070c0"/>
              </a:solidFill>
              <a:latin typeface="HY엽서M"/>
              <a:ea typeface="HY엽서M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948264" y="1383159"/>
            <a:ext cx="2058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 lang="ko-KR" altLang="en-US"/>
            </a:pPr>
            <a:r>
              <a:rPr lang="ko-KR" altLang="en-US" sz="2400" b="0" spc="-300">
                <a:solidFill>
                  <a:schemeClr val="accent5">
                    <a:lumMod val="75000"/>
                  </a:schemeClr>
                </a:solidFill>
                <a:latin typeface="HY엽서M"/>
                <a:ea typeface="HY엽서M"/>
              </a:rPr>
              <a:t>주격관계대명사</a:t>
            </a:r>
            <a:endParaRPr lang="ko-KR" altLang="en-US" sz="2400" b="0" spc="-300">
              <a:latin typeface="HY엽서M"/>
              <a:ea typeface="HY엽서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1"/>
      <p:bldP spid="23" grpId="2" animBg="1"/>
      <p:bldP spid="24" grpId="3"/>
      <p:bldP spid="9" grpId="4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1520" y="1124744"/>
            <a:ext cx="8640960" cy="25853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When warm air </a:t>
            </a:r>
            <a:r>
              <a:rPr lang="en-US" altLang="ko-KR" sz="3200" u="sng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rises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, (</a:t>
            </a:r>
            <a:r>
              <a:rPr lang="en-US" altLang="ko-KR" sz="32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creating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 low pressure </a:t>
            </a:r>
          </a:p>
          <a:p>
            <a:pPr fontAlgn="base" latinLnBrk="0"/>
            <a:endParaRPr lang="en-US" altLang="ko-KR" dirty="0" smtClean="0">
              <a:latin typeface="Cambria Math" pitchFamily="18" charset="0"/>
              <a:ea typeface="Cambria Math" pitchFamily="18" charset="0"/>
            </a:endParaRPr>
          </a:p>
          <a:p>
            <a:pPr fontAlgn="base" latinLnBrk="0"/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over the water surface), cooler air from nearby </a:t>
            </a:r>
          </a:p>
          <a:p>
            <a:pPr fontAlgn="base" latinLnBrk="0"/>
            <a:endParaRPr lang="en-US" altLang="ko-KR" sz="1600" dirty="0" smtClean="0">
              <a:latin typeface="Cambria Math" pitchFamily="18" charset="0"/>
              <a:ea typeface="Cambria Math" pitchFamily="18" charset="0"/>
            </a:endParaRPr>
          </a:p>
          <a:p>
            <a:pPr fontAlgn="base" latinLnBrk="0"/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enters </a:t>
            </a:r>
            <a:r>
              <a:rPr lang="en-US" altLang="ko-KR" sz="3200" u="sng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to fill 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the area. </a:t>
            </a:r>
          </a:p>
          <a:p>
            <a:pPr fontAlgn="base" latinLnBrk="0"/>
            <a:endParaRPr lang="en-US" altLang="ko-KR" sz="3200" dirty="0" smtClean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11760" y="1412776"/>
            <a:ext cx="2592288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자동사</a:t>
            </a:r>
            <a:r>
              <a:rPr lang="en-US" altLang="ko-KR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(</a:t>
            </a:r>
            <a:r>
              <a:rPr lang="ko-KR" altLang="en-US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수동태ⅹ</a:t>
            </a:r>
            <a:r>
              <a:rPr lang="en-US" altLang="ko-KR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)</a:t>
            </a:r>
            <a:endParaRPr lang="ko-KR" altLang="en-US" sz="2400" kern="0" spc="-3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67544" y="2996952"/>
            <a:ext cx="4104456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‘~</a:t>
            </a:r>
            <a:r>
              <a:rPr lang="ko-KR" altLang="en-US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하기 위해서’</a:t>
            </a:r>
            <a:r>
              <a:rPr lang="en-US" altLang="ko-KR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to</a:t>
            </a:r>
            <a:r>
              <a:rPr lang="ko-KR" altLang="en-US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부정사</a:t>
            </a:r>
            <a:r>
              <a:rPr lang="en-US" altLang="ko-KR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(</a:t>
            </a:r>
            <a:r>
              <a:rPr lang="ko-KR" altLang="en-US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목적</a:t>
            </a:r>
            <a:r>
              <a:rPr lang="en-US" altLang="ko-KR" sz="2400" kern="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)</a:t>
            </a:r>
            <a:endParaRPr lang="ko-KR" altLang="en-US" sz="2400" kern="0" spc="-3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04056" y="-67454"/>
            <a:ext cx="44279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/>
              <a:t>How Do </a:t>
            </a:r>
            <a:r>
              <a:rPr lang="en-US" altLang="ko-KR" sz="2000" b="1" dirty="0"/>
              <a:t>Hurricanes</a:t>
            </a:r>
            <a:r>
              <a:rPr lang="en-US" altLang="ko-KR" b="1" dirty="0"/>
              <a:t> Form?</a:t>
            </a:r>
            <a:endParaRPr lang="en-US" altLang="ko-KR" dirty="0"/>
          </a:p>
        </p:txBody>
      </p:sp>
      <p:sp>
        <p:nvSpPr>
          <p:cNvPr id="13" name="TextBox 12"/>
          <p:cNvSpPr txBox="1"/>
          <p:nvPr/>
        </p:nvSpPr>
        <p:spPr>
          <a:xfrm>
            <a:off x="611560" y="2276872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분사 구문</a:t>
            </a:r>
            <a:endParaRPr lang="ko-KR" altLang="en-US" sz="24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51520" y="908720"/>
            <a:ext cx="8496944" cy="25545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3200" u="sng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As</a:t>
            </a:r>
            <a:r>
              <a:rPr lang="en-US" altLang="ko-KR" sz="32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this process continues, the resulting clouds </a:t>
            </a:r>
            <a:endParaRPr lang="en-US" altLang="ko-KR" sz="3200" dirty="0" smtClean="0">
              <a:solidFill>
                <a:srgbClr val="000000"/>
              </a:solidFill>
              <a:latin typeface="Cambria Math" pitchFamily="18" charset="0"/>
              <a:ea typeface="Cambria Math" pitchFamily="18" charset="0"/>
            </a:endParaRPr>
          </a:p>
          <a:p>
            <a:pPr fontAlgn="base" latinLnBrk="0"/>
            <a:endParaRPr lang="en-US" altLang="ko-KR" sz="3200" dirty="0" smtClean="0">
              <a:solidFill>
                <a:srgbClr val="FF0000"/>
              </a:solidFill>
              <a:latin typeface="Cambria Math" pitchFamily="18" charset="0"/>
              <a:ea typeface="Cambria Math" pitchFamily="18" charset="0"/>
            </a:endParaRPr>
          </a:p>
          <a:p>
            <a:pPr fontAlgn="base" latinLnBrk="0"/>
            <a:r>
              <a:rPr lang="en-US" altLang="ko-KR" sz="32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begin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altLang="ko-KR" sz="3200" dirty="0">
                <a:latin typeface="Cambria Math" pitchFamily="18" charset="0"/>
                <a:ea typeface="Cambria Math" pitchFamily="18" charset="0"/>
              </a:rPr>
              <a:t>to expand, 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[</a:t>
            </a:r>
            <a:r>
              <a:rPr lang="en-US" altLang="ko-KR" sz="32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giving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altLang="ko-KR" sz="3200" dirty="0">
                <a:latin typeface="Cambria Math" pitchFamily="18" charset="0"/>
                <a:ea typeface="Cambria Math" pitchFamily="18" charset="0"/>
              </a:rPr>
              <a:t>rise to rains and </a:t>
            </a:r>
            <a:endParaRPr lang="en-US" altLang="ko-KR" sz="3200" dirty="0" smtClean="0">
              <a:latin typeface="Cambria Math" pitchFamily="18" charset="0"/>
              <a:ea typeface="Cambria Math" pitchFamily="18" charset="0"/>
            </a:endParaRPr>
          </a:p>
          <a:p>
            <a:pPr fontAlgn="base" latinLnBrk="0"/>
            <a:endParaRPr lang="en-US" altLang="ko-KR" sz="3200" dirty="0" smtClean="0">
              <a:latin typeface="Cambria Math" pitchFamily="18" charset="0"/>
              <a:ea typeface="Cambria Math" pitchFamily="18" charset="0"/>
            </a:endParaRPr>
          </a:p>
          <a:p>
            <a:pPr fontAlgn="base" latinLnBrk="0"/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thunderstorms.]</a:t>
            </a:r>
            <a:endParaRPr lang="en-US" altLang="ko-KR" sz="32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79512" y="4363943"/>
            <a:ext cx="87849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en-US" altLang="ko-KR" sz="2800" kern="0" spc="0" dirty="0" smtClean="0">
                <a:solidFill>
                  <a:srgbClr val="000000"/>
                </a:solidFill>
                <a:latin typeface="맑은 고딕"/>
                <a:ea typeface="맑은 고딕"/>
              </a:rPr>
              <a:t>▶ </a:t>
            </a:r>
            <a:r>
              <a:rPr kumimoji="1" lang="en-US" altLang="ko-K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begin : to</a:t>
            </a:r>
            <a:r>
              <a:rPr kumimoji="1" lang="ko-KR" altLang="en-US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부정사와 동명사를 목적어로 취하는 </a:t>
            </a:r>
            <a:r>
              <a:rPr kumimoji="1" lang="ko-KR" altLang="en-US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동사</a:t>
            </a:r>
            <a:r>
              <a:rPr kumimoji="1" lang="ko-KR" altLang="en-US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  </a:t>
            </a:r>
            <a:endParaRPr kumimoji="1" lang="en-US" altLang="ko-KR" sz="2800" dirty="0" smtClean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32048" y="-99392"/>
            <a:ext cx="44279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/>
              <a:t>How Do </a:t>
            </a:r>
            <a:r>
              <a:rPr lang="en-US" altLang="ko-KR" sz="2000" b="1" dirty="0"/>
              <a:t>Hurricanes</a:t>
            </a:r>
            <a:r>
              <a:rPr lang="en-US" altLang="ko-KR" b="1" dirty="0"/>
              <a:t> Form?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3419872" y="231926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분사 구문</a:t>
            </a:r>
            <a:endParaRPr lang="ko-KR" altLang="en-US" sz="2400" spc="-3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1340768"/>
            <a:ext cx="34578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 latinLnBrk="0"/>
            <a:r>
              <a:rPr kumimoji="1"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‘~</a:t>
            </a:r>
            <a:r>
              <a:rPr kumimoji="1"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하면서</a:t>
            </a:r>
            <a:r>
              <a:rPr kumimoji="1"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’(</a:t>
            </a:r>
            <a:r>
              <a:rPr kumimoji="1"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부사절 접속사</a:t>
            </a:r>
            <a:r>
              <a:rPr kumimoji="1"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73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51520" y="1078865"/>
            <a:ext cx="8712968" cy="206210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itchFamily="18" charset="0"/>
                <a:ea typeface="Cambria Math" pitchFamily="18" charset="0"/>
                <a:cs typeface="굴림" pitchFamily="50" charset="-127"/>
              </a:rPr>
              <a:t>The thunderstorms then begin to move in circles around a central point, </a:t>
            </a:r>
            <a:r>
              <a:rPr kumimoji="1" lang="en-US" altLang="ko-KR" sz="3200" b="0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mbria Math" pitchFamily="18" charset="0"/>
                <a:ea typeface="Cambria Math" pitchFamily="18" charset="0"/>
                <a:cs typeface="굴림" pitchFamily="50" charset="-127"/>
              </a:rPr>
              <a:t>due to</a:t>
            </a:r>
            <a:r>
              <a:rPr kumimoji="1" lang="en-US" altLang="ko-KR" sz="3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mbria Math" pitchFamily="18" charset="0"/>
                <a:ea typeface="Cambria Math" pitchFamily="18" charset="0"/>
                <a:cs typeface="굴림" pitchFamily="50" charset="-127"/>
              </a:rPr>
              <a:t> </a:t>
            </a:r>
            <a:r>
              <a:rPr kumimoji="1" lang="en-US" altLang="ko-K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itchFamily="18" charset="0"/>
                <a:ea typeface="Cambria Math" pitchFamily="18" charset="0"/>
                <a:cs typeface="굴림" pitchFamily="50" charset="-127"/>
              </a:rPr>
              <a:t>the</a:t>
            </a:r>
            <a:r>
              <a:rPr kumimoji="1" lang="en-US" altLang="ko-KR" sz="3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itchFamily="18" charset="0"/>
                <a:ea typeface="Cambria Math" pitchFamily="18" charset="0"/>
                <a:cs typeface="굴림" pitchFamily="50" charset="-127"/>
              </a:rPr>
              <a:t> </a:t>
            </a:r>
            <a:r>
              <a:rPr kumimoji="1" lang="en-US" altLang="ko-K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itchFamily="18" charset="0"/>
                <a:ea typeface="Cambria Math" pitchFamily="18" charset="0"/>
                <a:cs typeface="굴림" pitchFamily="50" charset="-127"/>
              </a:rPr>
              <a:t>rotation of</a:t>
            </a: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3200" dirty="0" smtClean="0">
              <a:solidFill>
                <a:srgbClr val="000000"/>
              </a:solidFill>
              <a:latin typeface="Cambria Math" pitchFamily="18" charset="0"/>
              <a:ea typeface="Cambria Math" pitchFamily="18" charset="0"/>
              <a:cs typeface="굴림" pitchFamily="50" charset="-127"/>
            </a:endParaRP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itchFamily="18" charset="0"/>
                <a:ea typeface="Cambria Math" pitchFamily="18" charset="0"/>
                <a:cs typeface="굴림" pitchFamily="50" charset="-127"/>
              </a:rPr>
              <a:t> Earth. </a:t>
            </a:r>
            <a:endParaRPr kumimoji="1" lang="en-US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 Math" pitchFamily="18" charset="0"/>
              <a:ea typeface="Cambria Math" pitchFamily="18" charset="0"/>
              <a:cs typeface="굴림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4295998"/>
            <a:ext cx="8568952" cy="1077218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3200" dirty="0" smtClean="0">
                <a:latin typeface="Cambria Math" pitchFamily="18" charset="0"/>
                <a:ea typeface="Cambria Math" pitchFamily="18" charset="0"/>
                <a:cs typeface="함초롬바탕" pitchFamily="18" charset="-127"/>
              </a:rPr>
              <a:t>This point </a:t>
            </a:r>
            <a:r>
              <a:rPr lang="en-US" altLang="ko-KR" sz="3200" u="sng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  <a:cs typeface="함초롬바탕" pitchFamily="18" charset="-127"/>
              </a:rPr>
              <a:t>is called 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  <a:cs typeface="함초롬바탕" pitchFamily="18" charset="-127"/>
              </a:rPr>
              <a:t>a tropical depression.</a:t>
            </a:r>
          </a:p>
          <a:p>
            <a:pPr fontAlgn="base"/>
            <a:endParaRPr lang="en-US" altLang="ko-KR" sz="3200" dirty="0" smtClean="0">
              <a:latin typeface="Cambria Math" pitchFamily="18" charset="0"/>
              <a:ea typeface="Cambria Math" pitchFamily="18" charset="0"/>
              <a:cs typeface="함초롬바탕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2048" y="-99392"/>
            <a:ext cx="44279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/>
              <a:t>How Do </a:t>
            </a:r>
            <a:r>
              <a:rPr lang="en-US" altLang="ko-KR" sz="2000" b="1" dirty="0"/>
              <a:t>Hurricanes</a:t>
            </a:r>
            <a:r>
              <a:rPr lang="en-US" altLang="ko-KR" b="1" dirty="0"/>
              <a:t> Form?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2699792" y="2103239"/>
            <a:ext cx="5832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 ‘~ </a:t>
            </a:r>
            <a:r>
              <a:rPr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때문에’</a:t>
            </a:r>
            <a:r>
              <a:rPr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(</a:t>
            </a:r>
            <a:r>
              <a:rPr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전치사구</a:t>
            </a:r>
            <a:r>
              <a:rPr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) =&gt;</a:t>
            </a:r>
            <a:r>
              <a:rPr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뒤에 명사구가 온다</a:t>
            </a:r>
            <a:r>
              <a:rPr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411760" y="4767535"/>
            <a:ext cx="992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함초롬바탕" pitchFamily="18" charset="-127"/>
              </a:rPr>
              <a:t>수동태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" grpId="0" animBg="1"/>
      <p:bldP spid="3" grpId="0" animBg="1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764704"/>
            <a:ext cx="8568952" cy="206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3200" dirty="0">
                <a:latin typeface="Cambria Math" pitchFamily="18" charset="0"/>
                <a:ea typeface="Cambria Math" pitchFamily="18" charset="0"/>
              </a:rPr>
              <a:t>As the tropical depression </a:t>
            </a:r>
            <a:r>
              <a:rPr lang="en-US" altLang="ko-KR" sz="3200" dirty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moves over warmer </a:t>
            </a:r>
            <a:r>
              <a:rPr lang="en-US" altLang="ko-KR" sz="3200" dirty="0">
                <a:latin typeface="Cambria Math" pitchFamily="18" charset="0"/>
                <a:ea typeface="Cambria Math" pitchFamily="18" charset="0"/>
              </a:rPr>
              <a:t>waters, the clouds expand and the winds begin to </a:t>
            </a:r>
            <a:r>
              <a:rPr lang="en-US" altLang="ko-KR" sz="3200" u="sng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build up </a:t>
            </a:r>
            <a:r>
              <a:rPr lang="en-US" altLang="ko-KR" sz="3200" dirty="0">
                <a:latin typeface="Cambria Math" pitchFamily="18" charset="0"/>
                <a:ea typeface="Cambria Math" pitchFamily="18" charset="0"/>
              </a:rPr>
              <a:t>speed, 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[</a:t>
            </a:r>
            <a:r>
              <a:rPr lang="en-US" altLang="ko-KR" sz="32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becoming </a:t>
            </a:r>
            <a:r>
              <a:rPr lang="en-US" altLang="ko-KR" sz="3200" dirty="0">
                <a:latin typeface="Cambria Math" pitchFamily="18" charset="0"/>
                <a:ea typeface="Cambria Math" pitchFamily="18" charset="0"/>
              </a:rPr>
              <a:t>a "tropical storm</a:t>
            </a:r>
            <a:r>
              <a:rPr lang="en-US" altLang="ko-KR" sz="3200" dirty="0" smtClean="0">
                <a:latin typeface="Cambria Math" pitchFamily="18" charset="0"/>
                <a:ea typeface="Cambria Math" pitchFamily="18" charset="0"/>
              </a:rPr>
              <a:t>.“]</a:t>
            </a:r>
          </a:p>
          <a:p>
            <a:pPr fontAlgn="base" latinLnBrk="0"/>
            <a:endParaRPr lang="en-US" altLang="ko-KR" sz="32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899592" y="2175247"/>
            <a:ext cx="13681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2400" b="0" i="0" u="none" strike="noStrike" cap="none" spc="-300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HY엽서M" pitchFamily="18" charset="-127"/>
                <a:ea typeface="HY엽서M" pitchFamily="18" charset="-127"/>
                <a:cs typeface="굴림" pitchFamily="50" charset="-127"/>
              </a:rPr>
              <a:t>이어 동사</a:t>
            </a:r>
            <a:endParaRPr kumimoji="1" lang="en-US" altLang="ko-KR" sz="2400" b="0" i="0" u="none" strike="noStrike" cap="none" spc="-300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HY엽서M" pitchFamily="18" charset="-127"/>
              <a:ea typeface="HY엽서M" pitchFamily="18" charset="-127"/>
              <a:cs typeface="굴림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32048" y="-99392"/>
            <a:ext cx="44279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/>
              <a:t>How Do </a:t>
            </a:r>
            <a:r>
              <a:rPr lang="en-US" altLang="ko-KR" sz="2000" b="1" dirty="0"/>
              <a:t>Hurricanes</a:t>
            </a:r>
            <a:r>
              <a:rPr lang="en-US" altLang="ko-KR" b="1" dirty="0"/>
              <a:t> Form?</a:t>
            </a:r>
            <a:endParaRPr lang="en-US" altLang="ko-KR" dirty="0"/>
          </a:p>
        </p:txBody>
      </p:sp>
      <p:sp>
        <p:nvSpPr>
          <p:cNvPr id="9" name="TextBox 8"/>
          <p:cNvSpPr txBox="1"/>
          <p:nvPr/>
        </p:nvSpPr>
        <p:spPr>
          <a:xfrm>
            <a:off x="3923928" y="2132856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분사 구문</a:t>
            </a:r>
            <a:endParaRPr lang="ko-KR" altLang="en-US" sz="2400" spc="-3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23528" y="3645024"/>
            <a:ext cx="8568952" cy="206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3200" dirty="0" smtClean="0"/>
              <a:t>At this point the storm officially becomes a hurricane. It is now </a:t>
            </a:r>
            <a:r>
              <a:rPr lang="en-US" altLang="ko-KR" sz="3200" u="sng" dirty="0" smtClean="0"/>
              <a:t>a huge storm </a:t>
            </a:r>
            <a:r>
              <a:rPr lang="en-US" altLang="ko-KR" sz="3200" dirty="0" smtClean="0"/>
              <a:t>[</a:t>
            </a:r>
            <a:r>
              <a:rPr lang="en-US" altLang="ko-KR" sz="3200" u="sng" dirty="0" smtClean="0">
                <a:solidFill>
                  <a:srgbClr val="FF0000"/>
                </a:solidFill>
              </a:rPr>
              <a:t>that</a:t>
            </a:r>
            <a:r>
              <a:rPr lang="en-US" altLang="ko-KR" sz="3200" dirty="0" smtClean="0"/>
              <a:t> can be </a:t>
            </a:r>
          </a:p>
          <a:p>
            <a:pPr fontAlgn="base" latinLnBrk="0"/>
            <a:endParaRPr lang="en-US" altLang="ko-KR" sz="3200" dirty="0" smtClean="0"/>
          </a:p>
          <a:p>
            <a:pPr fontAlgn="base" latinLnBrk="0"/>
            <a:r>
              <a:rPr lang="en-US" altLang="ko-KR" sz="3200" dirty="0" smtClean="0"/>
              <a:t>seen from space.] </a:t>
            </a:r>
            <a:endParaRPr lang="en-US" altLang="ko-KR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6228184" y="4581128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</a:rPr>
              <a:t>관계대명사</a:t>
            </a:r>
            <a:endParaRPr lang="ko-KR" altLang="en-US" sz="2400" spc="-3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25" grpId="0"/>
      <p:bldP spid="9" grpId="0"/>
      <p:bldP spid="10" grpId="0" animBg="1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51520" y="980728"/>
            <a:ext cx="8712968" cy="206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3200" dirty="0"/>
              <a:t>Interestingly </a:t>
            </a:r>
            <a:r>
              <a:rPr lang="en-US" altLang="ko-KR" sz="3200" u="sng" dirty="0">
                <a:solidFill>
                  <a:srgbClr val="FF0000"/>
                </a:solidFill>
              </a:rPr>
              <a:t>enough</a:t>
            </a:r>
            <a:r>
              <a:rPr lang="en-US" altLang="ko-KR" sz="3200" dirty="0"/>
              <a:t>, the storm has a calm </a:t>
            </a:r>
            <a:endParaRPr lang="en-US" altLang="ko-KR" sz="3200" dirty="0" smtClean="0"/>
          </a:p>
          <a:p>
            <a:pPr fontAlgn="base" latinLnBrk="0"/>
            <a:endParaRPr lang="en-US" altLang="ko-KR" sz="3200" dirty="0" smtClean="0"/>
          </a:p>
          <a:p>
            <a:pPr fontAlgn="base" latinLnBrk="0"/>
            <a:r>
              <a:rPr lang="en-US" altLang="ko-KR" sz="3200" dirty="0" smtClean="0"/>
              <a:t>center</a:t>
            </a:r>
            <a:r>
              <a:rPr lang="en-US" altLang="ko-KR" sz="3200" dirty="0"/>
              <a:t>, </a:t>
            </a:r>
            <a:r>
              <a:rPr lang="en-US" altLang="ko-KR" sz="3200" u="sng" dirty="0">
                <a:solidFill>
                  <a:srgbClr val="FF0000"/>
                </a:solidFill>
              </a:rPr>
              <a:t>which</a:t>
            </a:r>
            <a:r>
              <a:rPr lang="en-US" altLang="ko-KR" sz="3200" dirty="0"/>
              <a:t> is called the "eye</a:t>
            </a:r>
            <a:r>
              <a:rPr lang="en-US" altLang="ko-KR" sz="3200" dirty="0" smtClean="0"/>
              <a:t>.“</a:t>
            </a:r>
          </a:p>
          <a:p>
            <a:pPr fontAlgn="base" latinLnBrk="0"/>
            <a:endParaRPr lang="en-US" altLang="ko-KR" sz="3200" dirty="0"/>
          </a:p>
        </p:txBody>
      </p:sp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323528" y="3353509"/>
            <a:ext cx="835292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800" kern="0" spc="0" dirty="0" smtClean="0">
                <a:solidFill>
                  <a:srgbClr val="000000"/>
                </a:solidFill>
                <a:latin typeface="맑은 고딕"/>
                <a:ea typeface="맑은 고딕"/>
              </a:rPr>
              <a:t>▶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which 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:</a:t>
            </a:r>
            <a:endParaRPr kumimoji="1" lang="en-US" altLang="ko-K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[</a:t>
            </a:r>
            <a:r>
              <a:rPr kumimoji="1" lang="ko-KR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문장전환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] ~ the storm has a calm center, 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and it </a:t>
            </a:r>
            <a:endParaRPr kumimoji="1" lang="en-US" altLang="ko-KR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함초롬바탕" pitchFamily="18" charset="-127"/>
              <a:ea typeface="함초롬바탕" pitchFamily="18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800" dirty="0" smtClean="0">
                <a:solidFill>
                  <a:srgbClr val="FF0000"/>
                </a:solidFill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 </a:t>
            </a:r>
            <a:r>
              <a:rPr kumimoji="1" lang="en-US" altLang="ko-KR" sz="2800" dirty="0" smtClean="0">
                <a:solidFill>
                  <a:srgbClr val="FF0000"/>
                </a:solidFill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               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is 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called the 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함초롬바탕" pitchFamily="18" charset="-127"/>
                <a:cs typeface="굴림" pitchFamily="50" charset="-127"/>
              </a:rPr>
              <a:t>“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itchFamily="18" charset="-127"/>
                <a:ea typeface="함초롬바탕" pitchFamily="18" charset="-127"/>
                <a:cs typeface="굴림" pitchFamily="50" charset="-127"/>
              </a:rPr>
              <a:t>eye</a:t>
            </a:r>
            <a:r>
              <a:rPr kumimoji="1" lang="en-US" altLang="ko-KR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함초롬바탕" pitchFamily="18" charset="-127"/>
                <a:cs typeface="굴림" pitchFamily="50" charset="-127"/>
              </a:rPr>
              <a:t>”</a:t>
            </a:r>
            <a:endParaRPr kumimoji="1" lang="en-US" altLang="ko-K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32048" y="-99392"/>
            <a:ext cx="44279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b="1" dirty="0"/>
              <a:t>How Do </a:t>
            </a:r>
            <a:r>
              <a:rPr lang="en-US" altLang="ko-KR" sz="2000" b="1" dirty="0"/>
              <a:t>Hurricanes</a:t>
            </a:r>
            <a:r>
              <a:rPr lang="en-US" altLang="ko-KR" b="1" dirty="0"/>
              <a:t> Form?</a:t>
            </a:r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1802276" y="1484784"/>
            <a:ext cx="3390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24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굴림" pitchFamily="50" charset="-127"/>
              </a:rPr>
              <a:t>Interestingly</a:t>
            </a:r>
            <a:r>
              <a:rPr kumimoji="1" lang="ko-KR" altLang="en-US" sz="24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굴림" pitchFamily="50" charset="-127"/>
              </a:rPr>
              <a:t>를 수식</a:t>
            </a:r>
            <a:endParaRPr lang="ko-KR" altLang="en-US" sz="24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15616" y="2420888"/>
            <a:ext cx="3172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굴림" pitchFamily="50" charset="-127"/>
              </a:rPr>
              <a:t>관계대명사</a:t>
            </a:r>
            <a:r>
              <a:rPr kumimoji="1"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굴림" pitchFamily="50" charset="-127"/>
              </a:rPr>
              <a:t>(</a:t>
            </a:r>
            <a:r>
              <a:rPr kumimoji="1" lang="ko-KR" altLang="en-US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굴림" pitchFamily="50" charset="-127"/>
              </a:rPr>
              <a:t>계속적 용법</a:t>
            </a:r>
            <a:r>
              <a:rPr kumimoji="1" lang="en-US" altLang="ko-KR" sz="2400" spc="-300" dirty="0" smtClean="0">
                <a:solidFill>
                  <a:srgbClr val="0070C0"/>
                </a:solidFill>
                <a:latin typeface="HY엽서M" pitchFamily="18" charset="-127"/>
                <a:ea typeface="HY엽서M" pitchFamily="18" charset="-127"/>
                <a:cs typeface="굴림" pitchFamily="50" charset="-127"/>
              </a:rPr>
              <a:t>)</a:t>
            </a:r>
            <a:endParaRPr lang="ko-KR" altLang="en-US" sz="2400" spc="-300" dirty="0">
              <a:solidFill>
                <a:srgbClr val="0070C0"/>
              </a:solidFill>
              <a:latin typeface="HY엽서M" pitchFamily="18" charset="-127"/>
              <a:ea typeface="HY엽서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481" grpId="0" build="p"/>
      <p:bldP spid="6" grpId="0"/>
      <p:bldP spid="7" grpId="0"/>
    </p:bldLst>
  </p:timing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lang="ko-KR" altLang="en-US"/>
            </a:pPr>
            <a:r>
              <a:rPr lang="en-US" altLang="ko-KR"/>
              <a:t>                                    END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_rels/them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/Relationships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고구려 벽화">
  <a:themeElements>
    <a:clrScheme name="고려청자">
      <a:dk1>
        <a:sysClr val="windowText" lastClr="000000"/>
      </a:dk1>
      <a:lt1>
        <a:sysClr val="window" lastClr="ffffff"/>
      </a:lt1>
      <a:dk2>
        <a:srgbClr val="005466"/>
      </a:dk2>
      <a:lt2>
        <a:srgbClr val="d9f3f4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고구려 벽화">
      <a:maj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고구려 벽화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18000">
              <a:schemeClr val="phClr">
                <a:tint val="20000"/>
                <a:shade val="100000"/>
                <a:hueMod val="100000"/>
                <a:satMod val="100000"/>
              </a:schemeClr>
            </a:gs>
            <a:gs pos="87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95000"/>
                <a:hueMod val="100000"/>
                <a:satMod val="100000"/>
              </a:schemeClr>
            </a:gs>
          </a:gsLst>
          <a:lin ang="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r="5400000" algn="tl">
              <a:srgbClr val="ebe9ed">
                <a:alpha val="0"/>
              </a:srgbClr>
            </a:outerShdw>
          </a:effectLst>
        </a:effectStyle>
        <a:effectStyle>
          <a:effectLst>
            <a:outerShdw blurRad="12700" dir="5400000" algn="tl">
              <a:srgbClr val="ebe9ed">
                <a:alpha val="27450"/>
              </a:srgbClr>
            </a:outerShdw>
          </a:effectLst>
        </a:effectStyle>
        <a:effectStyle>
          <a:effectLst>
            <a:outerShdw blurRad="101600" dist="76200" dir="2700000" algn="bl">
              <a:srgbClr val="000000">
                <a:alpha val="30590"/>
              </a:srgbClr>
            </a:outerShdw>
          </a:effectLst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60000">
              <a:schemeClr val="phClr">
                <a:tint val="100000"/>
                <a:shade val="55000"/>
                <a:hueMod val="100000"/>
                <a:satMod val="100000"/>
              </a:schemeClr>
            </a:gs>
          </a:gsLst>
          <a:path path="circle">
            <a:fillToRect l="50000" t="90000" r="50000" b="10000"/>
          </a:path>
        </a:gradFill>
        <a:blipFill rotWithShape="1">
          <a:blip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3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"/>
      </a:majorFont>
      <a:minorFont>
        <a:latin typeface="함초롬돋움"/>
        <a:ea typeface="함초롬돋움"/>
        <a:cs typeface="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793</ep:Words>
  <ep:PresentationFormat>화면 슬라이드 쇼(4:3)</ep:PresentationFormat>
  <ep:Paragraphs>107</ep:Paragraphs>
  <ep:Slides>21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고구려 벽화</vt:lpstr>
      <vt:lpstr>How Do Hurricanes Form?</vt:lpstr>
      <vt:lpstr>Key words/Interpretation</vt:lpstr>
      <vt:lpstr>슬라이드 3</vt:lpstr>
      <vt:lpstr>슬라이드 4</vt:lpstr>
      <vt:lpstr>슬라이드 5</vt:lpstr>
      <vt:lpstr>슬라이드 6</vt:lpstr>
      <vt:lpstr>슬라이드 7</vt:lpstr>
      <vt:lpstr>Topic/Main Sentences</vt:lpstr>
      <vt:lpstr>슬라이드 9</vt:lpstr>
      <vt:lpstr>Q 1.2</vt:lpstr>
      <vt:lpstr>슬라이드 11</vt:lpstr>
      <vt:lpstr>슬라이드 12</vt:lpstr>
      <vt:lpstr>슬라이드 13</vt:lpstr>
      <vt:lpstr>Grammer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Hancom Office Hanshow 2014</ep:Application>
  <ep:AppVersion>0901.0000.01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2019-06-08T13:33:08.000</dcterms:created>
  <dc:creator>user</dc:creator>
  <cp:lastModifiedBy>samsung</cp:lastModifiedBy>
  <dcterms:modified xsi:type="dcterms:W3CDTF">2019-06-12T13:56:38.654</dcterms:modified>
  <cp:revision>38</cp:revision>
  <dc:title>슬라이드 1</dc:title>
</cp:coreProperties>
</file>