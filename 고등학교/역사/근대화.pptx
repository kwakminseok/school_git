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8/19/2019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20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5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53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32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0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1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8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8/19/2019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02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1675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35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2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6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1" r:id="rId5"/>
    <p:sldLayoutId id="2147483697" r:id="rId6"/>
    <p:sldLayoutId id="2147483698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9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그림 5" descr="건물, 오래된, 사진, 실외이(가) 표시된 사진&#10;&#10;자동 생성된 설명">
            <a:extLst>
              <a:ext uri="{FF2B5EF4-FFF2-40B4-BE49-F238E27FC236}">
                <a16:creationId xmlns:a16="http://schemas.microsoft.com/office/drawing/2014/main" id="{6C3990D3-B381-45BE-BD8B-CF96819D66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33" name="Rectangle 21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88FE6C1-4DBF-474C-852C-98AD9A5BA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/>
          </a:bodyPr>
          <a:lstStyle/>
          <a:p>
            <a:r>
              <a:rPr lang="ko-KR" altLang="en-US" dirty="0"/>
              <a:t>근대화란 이름으로 변화를 강요하다</a:t>
            </a:r>
            <a:r>
              <a:rPr lang="en-US" altLang="ko-KR" dirty="0"/>
              <a:t>(P.324)</a:t>
            </a:r>
            <a:endParaRPr lang="ko-KR" altLang="en-US" dirty="0"/>
          </a:p>
        </p:txBody>
      </p:sp>
      <p:sp>
        <p:nvSpPr>
          <p:cNvPr id="15" name="부제목 14">
            <a:extLst>
              <a:ext uri="{FF2B5EF4-FFF2-40B4-BE49-F238E27FC236}">
                <a16:creationId xmlns:a16="http://schemas.microsoft.com/office/drawing/2014/main" id="{5701CBF8-6A05-43C6-BEAB-40216570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</p:spPr>
        <p:txBody>
          <a:bodyPr>
            <a:normAutofit/>
          </a:bodyPr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1-3.1 </a:t>
            </a:r>
            <a:r>
              <a:rPr lang="ko-KR" altLang="en-US" dirty="0">
                <a:solidFill>
                  <a:schemeClr val="tx1"/>
                </a:solidFill>
              </a:rPr>
              <a:t>곽민석</a:t>
            </a: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478435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E2E51-9919-4290-8BF8-02C964964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16" y="577048"/>
            <a:ext cx="2309674" cy="750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    1990</a:t>
            </a:r>
            <a:r>
              <a:rPr lang="ko-KR" altLang="en-US" sz="2000" dirty="0"/>
              <a:t>년대 일본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6CD837E-1AFD-44D6-A442-7BCFCAFEA74E}"/>
              </a:ext>
            </a:extLst>
          </p:cNvPr>
          <p:cNvGrpSpPr/>
          <p:nvPr/>
        </p:nvGrpSpPr>
        <p:grpSpPr>
          <a:xfrm>
            <a:off x="550416" y="1251750"/>
            <a:ext cx="2309674" cy="1677880"/>
            <a:chOff x="550416" y="1233995"/>
            <a:chExt cx="2309674" cy="1677880"/>
          </a:xfrm>
        </p:grpSpPr>
        <p:sp>
          <p:nvSpPr>
            <p:cNvPr id="9" name="사각형: 둥근 모서리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07EBE9A-6270-41D0-8708-7523FA0160FB}"/>
                </a:ext>
              </a:extLst>
            </p:cNvPr>
            <p:cNvSpPr/>
            <p:nvPr/>
          </p:nvSpPr>
          <p:spPr>
            <a:xfrm>
              <a:off x="550416" y="1988598"/>
              <a:ext cx="2309674" cy="9232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조선총독부</a:t>
              </a:r>
            </a:p>
          </p:txBody>
        </p:sp>
        <p:sp>
          <p:nvSpPr>
            <p:cNvPr id="10" name="화살표: 아래쪽 9">
              <a:extLst>
                <a:ext uri="{FF2B5EF4-FFF2-40B4-BE49-F238E27FC236}">
                  <a16:creationId xmlns:a16="http://schemas.microsoft.com/office/drawing/2014/main" id="{82CF7A5C-5A28-4FA8-B82F-F848A1B17D31}"/>
                </a:ext>
              </a:extLst>
            </p:cNvPr>
            <p:cNvSpPr/>
            <p:nvPr/>
          </p:nvSpPr>
          <p:spPr>
            <a:xfrm>
              <a:off x="1464816" y="1233995"/>
              <a:ext cx="497149" cy="55041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6A97B8E-6F67-4881-B97C-33CE2CD0374B}"/>
              </a:ext>
            </a:extLst>
          </p:cNvPr>
          <p:cNvGrpSpPr/>
          <p:nvPr/>
        </p:nvGrpSpPr>
        <p:grpSpPr>
          <a:xfrm>
            <a:off x="3062796" y="2015230"/>
            <a:ext cx="1615737" cy="914400"/>
            <a:chOff x="3062796" y="2015230"/>
            <a:chExt cx="1615737" cy="91440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D8366A5-9F40-499C-A059-A62169376C9D}"/>
                </a:ext>
              </a:extLst>
            </p:cNvPr>
            <p:cNvSpPr/>
            <p:nvPr/>
          </p:nvSpPr>
          <p:spPr>
            <a:xfrm>
              <a:off x="3764133" y="2015230"/>
              <a:ext cx="914400" cy="9144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무단통치</a:t>
              </a:r>
            </a:p>
          </p:txBody>
        </p:sp>
        <p:sp>
          <p:nvSpPr>
            <p:cNvPr id="13" name="화살표: 갈매기형 수장 12">
              <a:extLst>
                <a:ext uri="{FF2B5EF4-FFF2-40B4-BE49-F238E27FC236}">
                  <a16:creationId xmlns:a16="http://schemas.microsoft.com/office/drawing/2014/main" id="{EEA60F86-989F-44F2-B596-3CD14B334219}"/>
                </a:ext>
              </a:extLst>
            </p:cNvPr>
            <p:cNvSpPr/>
            <p:nvPr/>
          </p:nvSpPr>
          <p:spPr>
            <a:xfrm>
              <a:off x="3062796" y="2139518"/>
              <a:ext cx="461639" cy="630315"/>
            </a:xfrm>
            <a:prstGeom prst="chevron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7CC8C6F-18C2-4D95-A43C-178F7C914A66}"/>
              </a:ext>
            </a:extLst>
          </p:cNvPr>
          <p:cNvSpPr txBox="1">
            <a:spLocks/>
          </p:cNvSpPr>
          <p:nvPr/>
        </p:nvSpPr>
        <p:spPr>
          <a:xfrm>
            <a:off x="5424256" y="2006353"/>
            <a:ext cx="5700944" cy="3946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헌병 경찰 제도</a:t>
            </a:r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토지조사사업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 err="1"/>
              <a:t>회사령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02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8E70A5D-9A96-486C-9E89-0B273F19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근대적 도시화 진행의 문제점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3781D6E2-6331-428F-B552-9522503F10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일부 상류 한국인에게만 혜택</a:t>
            </a:r>
            <a:endParaRPr lang="en-US" altLang="ko-KR" dirty="0"/>
          </a:p>
          <a:p>
            <a:r>
              <a:rPr lang="ko-KR" altLang="en-US" dirty="0"/>
              <a:t>경제 수탈로 인한 빈곤</a:t>
            </a:r>
            <a:endParaRPr lang="en-US" altLang="ko-KR" dirty="0"/>
          </a:p>
          <a:p>
            <a:r>
              <a:rPr lang="ko-KR" altLang="en-US" dirty="0"/>
              <a:t>과도한 세금부과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 F.A </a:t>
            </a:r>
            <a:r>
              <a:rPr lang="ko-KR" altLang="en-US" dirty="0" err="1"/>
              <a:t>매켄지</a:t>
            </a:r>
            <a:endParaRPr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8DB61B9-DE64-47AC-8797-DEC70C7D9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92171" y="2103120"/>
            <a:ext cx="3020019" cy="3749040"/>
          </a:xfrm>
        </p:spPr>
        <p:txBody>
          <a:bodyPr/>
          <a:lstStyle/>
          <a:p>
            <a:r>
              <a:rPr lang="ko-KR" altLang="en-US" dirty="0"/>
              <a:t>호남선</a:t>
            </a:r>
            <a:r>
              <a:rPr lang="en-US" altLang="ko-KR" dirty="0"/>
              <a:t> - </a:t>
            </a:r>
            <a:r>
              <a:rPr lang="ko-KR" altLang="en-US" dirty="0"/>
              <a:t>쌀 운반</a:t>
            </a:r>
            <a:endParaRPr lang="en-US" altLang="ko-KR" dirty="0"/>
          </a:p>
          <a:p>
            <a:r>
              <a:rPr lang="ko-KR" altLang="en-US" dirty="0"/>
              <a:t>경원선 </a:t>
            </a:r>
            <a:r>
              <a:rPr lang="en-US" altLang="ko-KR" dirty="0"/>
              <a:t>- </a:t>
            </a:r>
            <a:r>
              <a:rPr lang="ko-KR" altLang="en-US" dirty="0"/>
              <a:t>북부 물자 수탈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ㅡ</a:t>
            </a:r>
            <a:r>
              <a:rPr lang="en-US" altLang="ko-KR" dirty="0"/>
              <a:t>&gt;</a:t>
            </a:r>
            <a:r>
              <a:rPr lang="ko-KR" altLang="en-US" dirty="0"/>
              <a:t>토지 헐값</a:t>
            </a:r>
            <a:r>
              <a:rPr lang="en-US" altLang="ko-KR" dirty="0"/>
              <a:t>, </a:t>
            </a:r>
            <a:r>
              <a:rPr lang="ko-KR" altLang="en-US" dirty="0"/>
              <a:t>무상 수용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</a:t>
            </a:r>
            <a:r>
              <a:rPr lang="ko-KR" altLang="en-US" dirty="0"/>
              <a:t>노동력 수탈</a:t>
            </a:r>
          </a:p>
        </p:txBody>
      </p:sp>
      <p:pic>
        <p:nvPicPr>
          <p:cNvPr id="8" name="내용 개체 틀 7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2651B151-CF0E-4D75-861A-F6E5EDD459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r="2029" b="-2"/>
          <a:stretch/>
        </p:blipFill>
        <p:spPr>
          <a:xfrm>
            <a:off x="5866956" y="2103120"/>
            <a:ext cx="2425215" cy="375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5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7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EA3290EC-86C7-4E6E-AD00-CA64A42B33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r="2029" b="-2"/>
          <a:stretch/>
        </p:blipFill>
        <p:spPr>
          <a:xfrm>
            <a:off x="3754071" y="515792"/>
            <a:ext cx="3765063" cy="5826415"/>
          </a:xfrm>
          <a:prstGeom prst="rect">
            <a:avLst/>
          </a:prstGeom>
        </p:spPr>
      </p:pic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30A19667-93B6-4CA1-B6B6-1A623D2DFF73}"/>
              </a:ext>
            </a:extLst>
          </p:cNvPr>
          <p:cNvSpPr/>
          <p:nvPr/>
        </p:nvSpPr>
        <p:spPr>
          <a:xfrm>
            <a:off x="5193437" y="3329126"/>
            <a:ext cx="514905" cy="550416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00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19D757C-9F6F-4525-BC1B-316E0C3D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1" y="607393"/>
            <a:ext cx="3464510" cy="759768"/>
          </a:xfrm>
        </p:spPr>
        <p:txBody>
          <a:bodyPr>
            <a:normAutofit/>
          </a:bodyPr>
          <a:lstStyle/>
          <a:p>
            <a:r>
              <a:rPr lang="ko-KR" altLang="en-US" dirty="0"/>
              <a:t>도시화</a:t>
            </a:r>
          </a:p>
        </p:txBody>
      </p:sp>
      <p:pic>
        <p:nvPicPr>
          <p:cNvPr id="8" name="내용 개체 틀 7" descr="지도, 텍스트이(가) 표시된 사진&#10;&#10;자동 생성된 설명">
            <a:extLst>
              <a:ext uri="{FF2B5EF4-FFF2-40B4-BE49-F238E27FC236}">
                <a16:creationId xmlns:a16="http://schemas.microsoft.com/office/drawing/2014/main" id="{4A6D5153-53EE-42E8-A394-AFF751CF0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270" y="1004570"/>
            <a:ext cx="4725059" cy="4544059"/>
          </a:xfrm>
        </p:spPr>
      </p:pic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2F55FE-9BB9-41C9-9FFA-E41883E6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8201" y="1751817"/>
            <a:ext cx="3161963" cy="2839461"/>
          </a:xfrm>
        </p:spPr>
        <p:txBody>
          <a:bodyPr/>
          <a:lstStyle/>
          <a:p>
            <a:r>
              <a:rPr lang="en-US" altLang="ko-KR" dirty="0"/>
              <a:t>1910 – 23</a:t>
            </a:r>
            <a:r>
              <a:rPr lang="ko-KR" altLang="en-US" dirty="0"/>
              <a:t>만명</a:t>
            </a:r>
            <a:endParaRPr lang="en-US" altLang="ko-KR" dirty="0"/>
          </a:p>
          <a:p>
            <a:r>
              <a:rPr lang="en-US" altLang="ko-KR" dirty="0"/>
              <a:t>1925 – 34</a:t>
            </a:r>
            <a:r>
              <a:rPr lang="ko-KR" altLang="en-US" dirty="0"/>
              <a:t>만면</a:t>
            </a:r>
            <a:endParaRPr lang="en-US" altLang="ko-KR" dirty="0"/>
          </a:p>
          <a:p>
            <a:r>
              <a:rPr lang="en-US" altLang="ko-KR" dirty="0"/>
              <a:t>1940 – 100</a:t>
            </a:r>
            <a:r>
              <a:rPr lang="ko-KR" altLang="en-US" dirty="0"/>
              <a:t>만명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인구비율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1920 – 3.4%</a:t>
            </a:r>
          </a:p>
          <a:p>
            <a:r>
              <a:rPr lang="en-US" altLang="ko-KR" dirty="0"/>
              <a:t>1930 – 5.6%</a:t>
            </a:r>
          </a:p>
          <a:p>
            <a:r>
              <a:rPr lang="en-US" altLang="ko-KR" dirty="0"/>
              <a:t>1940 – 11.6%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069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A66AF-EC0E-4741-B252-A585964F7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0" y="759792"/>
            <a:ext cx="3161963" cy="621333"/>
          </a:xfrm>
        </p:spPr>
        <p:txBody>
          <a:bodyPr/>
          <a:lstStyle/>
          <a:p>
            <a:r>
              <a:rPr lang="ko-KR" altLang="en-US" dirty="0"/>
              <a:t>빈민의 형성</a:t>
            </a:r>
          </a:p>
        </p:txBody>
      </p:sp>
      <p:pic>
        <p:nvPicPr>
          <p:cNvPr id="6" name="내용 개체 틀 5" descr="텍스트이(가) 표시된 사진&#10;&#10;자동 생성된 설명">
            <a:extLst>
              <a:ext uri="{FF2B5EF4-FFF2-40B4-BE49-F238E27FC236}">
                <a16:creationId xmlns:a16="http://schemas.microsoft.com/office/drawing/2014/main" id="{DA124A8B-36D8-4AD8-B2BA-EDC0E1869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098" y="609600"/>
            <a:ext cx="4153403" cy="5334000"/>
          </a:xfr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0B4A1C-D7D5-4C03-8172-2B7D5FD14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8199" y="1736725"/>
            <a:ext cx="3161963" cy="3606800"/>
          </a:xfrm>
        </p:spPr>
        <p:txBody>
          <a:bodyPr/>
          <a:lstStyle/>
          <a:p>
            <a:r>
              <a:rPr lang="ko-KR" altLang="en-US" dirty="0"/>
              <a:t>일본인</a:t>
            </a:r>
            <a:r>
              <a:rPr lang="en-US" altLang="ko-KR" dirty="0"/>
              <a:t> – </a:t>
            </a:r>
            <a:r>
              <a:rPr lang="ko-KR" altLang="en-US" dirty="0"/>
              <a:t>남쪽</a:t>
            </a:r>
            <a:endParaRPr lang="en-US" altLang="ko-KR" dirty="0"/>
          </a:p>
          <a:p>
            <a:r>
              <a:rPr lang="ko-KR" altLang="en-US" dirty="0"/>
              <a:t>조선인 </a:t>
            </a:r>
            <a:r>
              <a:rPr lang="en-US" altLang="ko-KR" dirty="0"/>
              <a:t>– </a:t>
            </a:r>
            <a:r>
              <a:rPr lang="ko-KR" altLang="en-US" dirty="0"/>
              <a:t>북쪽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ㅡ</a:t>
            </a:r>
            <a:r>
              <a:rPr lang="en-US" altLang="ko-KR" dirty="0"/>
              <a:t>&gt;</a:t>
            </a:r>
            <a:r>
              <a:rPr lang="ko-KR" altLang="en-US" dirty="0"/>
              <a:t>경제적 차이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상점</a:t>
            </a:r>
            <a:r>
              <a:rPr lang="en-US" altLang="ko-KR" dirty="0"/>
              <a:t>, </a:t>
            </a:r>
            <a:r>
              <a:rPr lang="ko-KR" altLang="en-US" dirty="0"/>
              <a:t>동대문</a:t>
            </a:r>
            <a:r>
              <a:rPr lang="en-US" altLang="ko-KR" dirty="0"/>
              <a:t>, </a:t>
            </a:r>
            <a:r>
              <a:rPr lang="ko-KR" altLang="en-US" dirty="0"/>
              <a:t>서대문 주둔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백화점 </a:t>
            </a:r>
            <a:r>
              <a:rPr lang="en-US" altLang="ko-KR" dirty="0"/>
              <a:t>4/5 </a:t>
            </a:r>
            <a:r>
              <a:rPr lang="ko-KR" altLang="en-US" dirty="0"/>
              <a:t>남촌 집중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경제적차이 심화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064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B04D75E-A39C-4EAE-B1F8-26923EEB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전통사회구조와 생활양식변화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574474-9308-4883-884F-43DBDE528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조선민사령 실시</a:t>
            </a:r>
            <a:r>
              <a:rPr lang="en-US" altLang="ko-KR" dirty="0"/>
              <a:t>(1912)</a:t>
            </a:r>
          </a:p>
          <a:p>
            <a:r>
              <a:rPr lang="ko-KR" altLang="en-US" dirty="0"/>
              <a:t>고등문관시험</a:t>
            </a:r>
            <a:endParaRPr lang="en-US" altLang="ko-KR" dirty="0"/>
          </a:p>
          <a:p>
            <a:r>
              <a:rPr lang="ko-KR" altLang="en-US" dirty="0"/>
              <a:t>삼림형</a:t>
            </a:r>
            <a:r>
              <a:rPr lang="en-US" altLang="ko-KR" dirty="0"/>
              <a:t>(</a:t>
            </a:r>
            <a:r>
              <a:rPr lang="ko-KR" altLang="en-US" dirty="0"/>
              <a:t>땔감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도량형법</a:t>
            </a:r>
            <a:r>
              <a:rPr lang="en-US" altLang="ko-KR" dirty="0"/>
              <a:t>(</a:t>
            </a:r>
            <a:r>
              <a:rPr lang="ko-KR" altLang="en-US" dirty="0" err="1"/>
              <a:t>양력권장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0414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B5721-E415-42AF-B435-A3933F70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1058F-0BE8-416E-B68A-FC002DF5D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7239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">
      <a:dk1>
        <a:srgbClr val="000000"/>
      </a:dk1>
      <a:lt1>
        <a:srgbClr val="FFFFFF"/>
      </a:lt1>
      <a:dk2>
        <a:srgbClr val="412F24"/>
      </a:dk2>
      <a:lt2>
        <a:srgbClr val="E6E2E8"/>
      </a:lt2>
      <a:accent1>
        <a:srgbClr val="65B234"/>
      </a:accent1>
      <a:accent2>
        <a:srgbClr val="91AA27"/>
      </a:accent2>
      <a:accent3>
        <a:srgbClr val="BD9F37"/>
      </a:accent3>
      <a:accent4>
        <a:srgbClr val="C0612C"/>
      </a:accent4>
      <a:accent5>
        <a:srgbClr val="D23E46"/>
      </a:accent5>
      <a:accent6>
        <a:srgbClr val="C02C72"/>
      </a:accent6>
      <a:hlink>
        <a:srgbClr val="C55D51"/>
      </a:hlink>
      <a:folHlink>
        <a:srgbClr val="7F7F7F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와이드스크린</PresentationFormat>
  <Paragraphs>41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Garamond</vt:lpstr>
      <vt:lpstr>SavonVTI</vt:lpstr>
      <vt:lpstr>근대화란 이름으로 변화를 강요하다(P.324)</vt:lpstr>
      <vt:lpstr>PowerPoint 프레젠테이션</vt:lpstr>
      <vt:lpstr>근대적 도시화 진행의 문제점</vt:lpstr>
      <vt:lpstr>PowerPoint 프레젠테이션</vt:lpstr>
      <vt:lpstr>도시화</vt:lpstr>
      <vt:lpstr>빈민의 형성</vt:lpstr>
      <vt:lpstr>전통사회구조와 생활양식변화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근대화란 이름으로 변화를 강요하다(P.324)</dc:title>
  <dc:creator>hyun5782@hanmail.net</dc:creator>
  <cp:lastModifiedBy>hyun5782@hanmail.net</cp:lastModifiedBy>
  <cp:revision>3</cp:revision>
  <dcterms:created xsi:type="dcterms:W3CDTF">2019-08-26T14:52:32Z</dcterms:created>
  <dcterms:modified xsi:type="dcterms:W3CDTF">2019-08-26T15:47:09Z</dcterms:modified>
</cp:coreProperties>
</file>